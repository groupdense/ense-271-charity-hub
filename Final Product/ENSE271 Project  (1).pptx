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Gill Sans"/>
      <p:regular r:id="rId13"/>
      <p:bold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GillSans-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font" Target="fonts/GillSans-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1ae47f8361_2_3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g31ae47f8361_2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1ae47f8361_2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g31ae47f8361_2_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g31ae47f8361_2_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1ae47f8361_2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g31ae47f8361_2_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g31ae47f8361_2_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1ae47f8361_2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g31ae47f8361_2_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g31ae47f8361_2_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1ae47f8361_2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g31ae47f8361_2_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g31ae47f8361_2_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1ae47f8361_2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g31ae47f8361_2_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g31ae47f8361_2_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49831bef4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49831bef4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rgbClr val="005937"/>
        </a:solidFill>
      </p:bgPr>
    </p:bg>
    <p:spTree>
      <p:nvGrpSpPr>
        <p:cNvPr id="50" name="Shape 50"/>
        <p:cNvGrpSpPr/>
        <p:nvPr/>
      </p:nvGrpSpPr>
      <p:grpSpPr>
        <a:xfrm>
          <a:off x="0" y="0"/>
          <a:ext cx="0" cy="0"/>
          <a:chOff x="0" y="0"/>
          <a:chExt cx="0" cy="0"/>
        </a:xfrm>
      </p:grpSpPr>
      <p:pic>
        <p:nvPicPr>
          <p:cNvPr descr="A picture containing text, swimming, ocean floor&#10;&#10;Description automatically generated" id="51" name="Google Shape;51;p13"/>
          <p:cNvPicPr preferRelativeResize="0"/>
          <p:nvPr/>
        </p:nvPicPr>
        <p:blipFill rotWithShape="1">
          <a:blip r:embed="rId2">
            <a:alphaModFix/>
          </a:blip>
          <a:srcRect b="0" l="0" r="0" t="0"/>
          <a:stretch/>
        </p:blipFill>
        <p:spPr>
          <a:xfrm>
            <a:off x="0" y="0"/>
            <a:ext cx="9143999" cy="5143499"/>
          </a:xfrm>
          <a:prstGeom prst="rect">
            <a:avLst/>
          </a:prstGeom>
          <a:noFill/>
          <a:ln>
            <a:noFill/>
          </a:ln>
        </p:spPr>
      </p:pic>
      <p:sp>
        <p:nvSpPr>
          <p:cNvPr id="52" name="Google Shape;52;p13"/>
          <p:cNvSpPr txBox="1"/>
          <p:nvPr>
            <p:ph type="ctrTitle"/>
          </p:nvPr>
        </p:nvSpPr>
        <p:spPr>
          <a:xfrm>
            <a:off x="628650" y="579239"/>
            <a:ext cx="8050500" cy="1241700"/>
          </a:xfrm>
          <a:prstGeom prst="rect">
            <a:avLst/>
          </a:prstGeom>
          <a:noFill/>
          <a:ln>
            <a:noFill/>
          </a:ln>
        </p:spPr>
        <p:txBody>
          <a:bodyPr anchorCtr="0" anchor="t" bIns="34275" lIns="68575" spcFirstLastPara="1" rIns="68575" wrap="square" tIns="34275">
            <a:normAutofit/>
          </a:bodyPr>
          <a:lstStyle>
            <a:lvl1pPr lvl="0" marR="0" algn="l">
              <a:lnSpc>
                <a:spcPct val="90000"/>
              </a:lnSpc>
              <a:spcBef>
                <a:spcPts val="0"/>
              </a:spcBef>
              <a:spcAft>
                <a:spcPts val="0"/>
              </a:spcAft>
              <a:buClr>
                <a:srgbClr val="FFC629"/>
              </a:buClr>
              <a:buSzPts val="4500"/>
              <a:buFont typeface="Arial"/>
              <a:buNone/>
              <a:defRPr b="0" i="0" sz="4500" u="none" cap="none" strike="noStrike">
                <a:solidFill>
                  <a:srgbClr val="FFC629"/>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3" name="Google Shape;53;p13"/>
          <p:cNvSpPr txBox="1"/>
          <p:nvPr>
            <p:ph idx="1" type="subTitle"/>
          </p:nvPr>
        </p:nvSpPr>
        <p:spPr>
          <a:xfrm>
            <a:off x="628650" y="1950839"/>
            <a:ext cx="8050500" cy="738900"/>
          </a:xfrm>
          <a:prstGeom prst="rect">
            <a:avLst/>
          </a:prstGeom>
          <a:noFill/>
          <a:ln>
            <a:noFill/>
          </a:ln>
        </p:spPr>
        <p:txBody>
          <a:bodyPr anchorCtr="0" anchor="t" bIns="34275" lIns="68575" spcFirstLastPara="1" rIns="68575" wrap="square" tIns="34275">
            <a:normAutofit/>
          </a:bodyPr>
          <a:lstStyle>
            <a:lvl1pPr lvl="0" marR="0" algn="l">
              <a:lnSpc>
                <a:spcPct val="90000"/>
              </a:lnSpc>
              <a:spcBef>
                <a:spcPts val="800"/>
              </a:spcBef>
              <a:spcAft>
                <a:spcPts val="0"/>
              </a:spcAft>
              <a:buClr>
                <a:schemeClr val="lt1"/>
              </a:buClr>
              <a:buSzPts val="1800"/>
              <a:buFont typeface="Arial"/>
              <a:buNone/>
              <a:defRPr b="0" i="0" sz="1800" u="none" cap="none" strike="noStrike">
                <a:solidFill>
                  <a:schemeClr val="lt1"/>
                </a:solidFill>
                <a:latin typeface="Arial"/>
                <a:ea typeface="Arial"/>
                <a:cs typeface="Arial"/>
                <a:sym typeface="Arial"/>
              </a:defRPr>
            </a:lvl1pPr>
            <a:lvl2pPr lvl="1" marR="0" algn="ctr">
              <a:lnSpc>
                <a:spcPct val="90000"/>
              </a:lnSpc>
              <a:spcBef>
                <a:spcPts val="12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2pPr>
            <a:lvl3pPr lvl="2" marR="0" algn="ctr">
              <a:lnSpc>
                <a:spcPct val="90000"/>
              </a:lnSpc>
              <a:spcBef>
                <a:spcPts val="12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3pPr>
            <a:lvl4pPr lvl="3" marR="0" algn="ctr">
              <a:lnSpc>
                <a:spcPct val="90000"/>
              </a:lnSpc>
              <a:spcBef>
                <a:spcPts val="12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4pPr>
            <a:lvl5pPr lvl="4" marR="0" algn="ctr">
              <a:lnSpc>
                <a:spcPct val="90000"/>
              </a:lnSpc>
              <a:spcBef>
                <a:spcPts val="12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5pPr>
            <a:lvl6pPr lvl="5" marR="0" algn="ctr">
              <a:lnSpc>
                <a:spcPct val="90000"/>
              </a:lnSpc>
              <a:spcBef>
                <a:spcPts val="12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6pPr>
            <a:lvl7pPr lvl="6" marR="0" algn="ctr">
              <a:lnSpc>
                <a:spcPct val="90000"/>
              </a:lnSpc>
              <a:spcBef>
                <a:spcPts val="12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7pPr>
            <a:lvl8pPr lvl="7" marR="0" algn="ctr">
              <a:lnSpc>
                <a:spcPct val="90000"/>
              </a:lnSpc>
              <a:spcBef>
                <a:spcPts val="12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8pPr>
            <a:lvl9pPr lvl="8" marR="0" algn="ctr">
              <a:lnSpc>
                <a:spcPct val="90000"/>
              </a:lnSpc>
              <a:spcBef>
                <a:spcPts val="1200"/>
              </a:spcBef>
              <a:spcAft>
                <a:spcPts val="1200"/>
              </a:spcAft>
              <a:buClr>
                <a:schemeClr val="dk1"/>
              </a:buClr>
              <a:buSzPts val="1200"/>
              <a:buFont typeface="Arial"/>
              <a:buNone/>
              <a:defRPr b="0" i="0" sz="1200" u="none" cap="none" strike="noStrike">
                <a:solidFill>
                  <a:schemeClr val="dk1"/>
                </a:solidFill>
                <a:latin typeface="Calibri"/>
                <a:ea typeface="Calibri"/>
                <a:cs typeface="Calibri"/>
                <a:sym typeface="Calibri"/>
              </a:defRPr>
            </a:lvl9pPr>
          </a:lstStyle>
          <a:p/>
        </p:txBody>
      </p:sp>
      <p:sp>
        <p:nvSpPr>
          <p:cNvPr id="54" name="Google Shape;54;p13"/>
          <p:cNvSpPr/>
          <p:nvPr/>
        </p:nvSpPr>
        <p:spPr>
          <a:xfrm>
            <a:off x="0" y="4213860"/>
            <a:ext cx="4572000" cy="701100"/>
          </a:xfrm>
          <a:prstGeom prst="rect">
            <a:avLst/>
          </a:prstGeom>
          <a:solidFill>
            <a:srgbClr val="FFC62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55" name="Google Shape;55;p13"/>
          <p:cNvSpPr/>
          <p:nvPr/>
        </p:nvSpPr>
        <p:spPr>
          <a:xfrm>
            <a:off x="4572000" y="4213740"/>
            <a:ext cx="4572000" cy="701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56" name="Google Shape;56;p13"/>
          <p:cNvPicPr preferRelativeResize="0"/>
          <p:nvPr/>
        </p:nvPicPr>
        <p:blipFill rotWithShape="1">
          <a:blip r:embed="rId3">
            <a:alphaModFix/>
          </a:blip>
          <a:srcRect b="0" l="0" r="0" t="0"/>
          <a:stretch/>
        </p:blipFill>
        <p:spPr>
          <a:xfrm>
            <a:off x="5200650" y="4318217"/>
            <a:ext cx="2975675" cy="492086"/>
          </a:xfrm>
          <a:prstGeom prst="rect">
            <a:avLst/>
          </a:prstGeom>
          <a:noFill/>
          <a:ln>
            <a:noFill/>
          </a:ln>
        </p:spPr>
      </p:pic>
      <p:sp>
        <p:nvSpPr>
          <p:cNvPr id="57" name="Google Shape;57;p13"/>
          <p:cNvSpPr txBox="1"/>
          <p:nvPr>
            <p:ph idx="2" type="body"/>
          </p:nvPr>
        </p:nvSpPr>
        <p:spPr>
          <a:xfrm>
            <a:off x="632460" y="4358401"/>
            <a:ext cx="3482400" cy="411600"/>
          </a:xfrm>
          <a:prstGeom prst="rect">
            <a:avLst/>
          </a:prstGeom>
          <a:noFill/>
          <a:ln>
            <a:noFill/>
          </a:ln>
        </p:spPr>
        <p:txBody>
          <a:bodyPr anchorCtr="0" anchor="ctr" bIns="34275" lIns="68575" spcFirstLastPara="1" rIns="68575" wrap="square" tIns="34275">
            <a:normAutofit/>
          </a:bodyPr>
          <a:lstStyle>
            <a:lvl1pPr indent="-228600" lvl="0" marL="457200" marR="0" algn="l">
              <a:lnSpc>
                <a:spcPct val="90000"/>
              </a:lnSpc>
              <a:spcBef>
                <a:spcPts val="8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42900" lvl="1" marL="914400" marR="0" algn="l">
              <a:lnSpc>
                <a:spcPct val="90000"/>
              </a:lnSpc>
              <a:spcBef>
                <a:spcPts val="12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1200"/>
              </a:spcBef>
              <a:spcAft>
                <a:spcPts val="120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bg>
      <p:bgPr>
        <a:solidFill>
          <a:schemeClr val="lt1"/>
        </a:solidFill>
      </p:bgPr>
    </p:bg>
    <p:spTree>
      <p:nvGrpSpPr>
        <p:cNvPr id="58" name="Shape 58"/>
        <p:cNvGrpSpPr/>
        <p:nvPr/>
      </p:nvGrpSpPr>
      <p:grpSpPr>
        <a:xfrm>
          <a:off x="0" y="0"/>
          <a:ext cx="0" cy="0"/>
          <a:chOff x="0" y="0"/>
          <a:chExt cx="0" cy="0"/>
        </a:xfrm>
      </p:grpSpPr>
      <p:sp>
        <p:nvSpPr>
          <p:cNvPr id="59" name="Google Shape;59;p14"/>
          <p:cNvSpPr txBox="1"/>
          <p:nvPr>
            <p:ph idx="1" type="subTitle"/>
          </p:nvPr>
        </p:nvSpPr>
        <p:spPr>
          <a:xfrm>
            <a:off x="628650" y="1379575"/>
            <a:ext cx="4362600" cy="3150300"/>
          </a:xfrm>
          <a:prstGeom prst="rect">
            <a:avLst/>
          </a:prstGeom>
          <a:noFill/>
          <a:ln>
            <a:noFill/>
          </a:ln>
        </p:spPr>
        <p:txBody>
          <a:bodyPr anchorCtr="0" anchor="t" bIns="34275" lIns="68575" spcFirstLastPara="1" rIns="68575" wrap="square" tIns="34275">
            <a:normAutofit/>
          </a:bodyPr>
          <a:lstStyle>
            <a:lvl1pPr lvl="0" marR="0" algn="l">
              <a:lnSpc>
                <a:spcPct val="100000"/>
              </a:lnSpc>
              <a:spcBef>
                <a:spcPts val="800"/>
              </a:spcBef>
              <a:spcAft>
                <a:spcPts val="0"/>
              </a:spcAft>
              <a:buClr>
                <a:schemeClr val="dk1"/>
              </a:buClr>
              <a:buSzPts val="1700"/>
              <a:buFont typeface="Arial"/>
              <a:buNone/>
              <a:defRPr b="0" i="0" sz="1700" u="none" cap="none" strike="noStrike">
                <a:solidFill>
                  <a:schemeClr val="dk1"/>
                </a:solidFill>
                <a:latin typeface="Arial"/>
                <a:ea typeface="Arial"/>
                <a:cs typeface="Arial"/>
                <a:sym typeface="Arial"/>
              </a:defRPr>
            </a:lvl1pPr>
            <a:lvl2pPr lvl="1" marR="0" algn="ctr">
              <a:lnSpc>
                <a:spcPct val="90000"/>
              </a:lnSpc>
              <a:spcBef>
                <a:spcPts val="12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2pPr>
            <a:lvl3pPr lvl="2" marR="0" algn="ctr">
              <a:lnSpc>
                <a:spcPct val="90000"/>
              </a:lnSpc>
              <a:spcBef>
                <a:spcPts val="12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3pPr>
            <a:lvl4pPr lvl="3" marR="0" algn="ctr">
              <a:lnSpc>
                <a:spcPct val="90000"/>
              </a:lnSpc>
              <a:spcBef>
                <a:spcPts val="12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4pPr>
            <a:lvl5pPr lvl="4" marR="0" algn="ctr">
              <a:lnSpc>
                <a:spcPct val="90000"/>
              </a:lnSpc>
              <a:spcBef>
                <a:spcPts val="12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5pPr>
            <a:lvl6pPr lvl="5" marR="0" algn="ctr">
              <a:lnSpc>
                <a:spcPct val="90000"/>
              </a:lnSpc>
              <a:spcBef>
                <a:spcPts val="12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6pPr>
            <a:lvl7pPr lvl="6" marR="0" algn="ctr">
              <a:lnSpc>
                <a:spcPct val="90000"/>
              </a:lnSpc>
              <a:spcBef>
                <a:spcPts val="12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7pPr>
            <a:lvl8pPr lvl="7" marR="0" algn="ctr">
              <a:lnSpc>
                <a:spcPct val="90000"/>
              </a:lnSpc>
              <a:spcBef>
                <a:spcPts val="12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8pPr>
            <a:lvl9pPr lvl="8" marR="0" algn="ctr">
              <a:lnSpc>
                <a:spcPct val="90000"/>
              </a:lnSpc>
              <a:spcBef>
                <a:spcPts val="1200"/>
              </a:spcBef>
              <a:spcAft>
                <a:spcPts val="1200"/>
              </a:spcAft>
              <a:buClr>
                <a:schemeClr val="dk1"/>
              </a:buClr>
              <a:buSzPts val="1200"/>
              <a:buFont typeface="Arial"/>
              <a:buNone/>
              <a:defRPr b="0" i="0" sz="1200" u="none" cap="none" strike="noStrike">
                <a:solidFill>
                  <a:schemeClr val="dk1"/>
                </a:solidFill>
                <a:latin typeface="Calibri"/>
                <a:ea typeface="Calibri"/>
                <a:cs typeface="Calibri"/>
                <a:sym typeface="Calibri"/>
              </a:defRPr>
            </a:lvl9pPr>
          </a:lstStyle>
          <a:p/>
        </p:txBody>
      </p:sp>
      <p:sp>
        <p:nvSpPr>
          <p:cNvPr id="60" name="Google Shape;60;p14"/>
          <p:cNvSpPr/>
          <p:nvPr/>
        </p:nvSpPr>
        <p:spPr>
          <a:xfrm flipH="1" rot="10800000">
            <a:off x="0" y="4843355"/>
            <a:ext cx="7158600" cy="34200"/>
          </a:xfrm>
          <a:prstGeom prst="rect">
            <a:avLst/>
          </a:prstGeom>
          <a:solidFill>
            <a:srgbClr val="FFC62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61" name="Google Shape;61;p14"/>
          <p:cNvPicPr preferRelativeResize="0"/>
          <p:nvPr/>
        </p:nvPicPr>
        <p:blipFill rotWithShape="1">
          <a:blip r:embed="rId2">
            <a:alphaModFix/>
          </a:blip>
          <a:srcRect b="0" l="0" r="0" t="0"/>
          <a:stretch/>
        </p:blipFill>
        <p:spPr>
          <a:xfrm>
            <a:off x="7258050" y="4718327"/>
            <a:ext cx="1718375" cy="284167"/>
          </a:xfrm>
          <a:prstGeom prst="rect">
            <a:avLst/>
          </a:prstGeom>
          <a:noFill/>
          <a:ln>
            <a:noFill/>
          </a:ln>
        </p:spPr>
      </p:pic>
      <p:sp>
        <p:nvSpPr>
          <p:cNvPr id="62" name="Google Shape;62;p14"/>
          <p:cNvSpPr/>
          <p:nvPr>
            <p:ph idx="2" type="pic"/>
          </p:nvPr>
        </p:nvSpPr>
        <p:spPr>
          <a:xfrm>
            <a:off x="5440681" y="1379935"/>
            <a:ext cx="3330000" cy="3150300"/>
          </a:xfrm>
          <a:prstGeom prst="rect">
            <a:avLst/>
          </a:prstGeom>
          <a:noFill/>
          <a:ln>
            <a:noFill/>
          </a:ln>
        </p:spPr>
      </p:sp>
      <p:sp>
        <p:nvSpPr>
          <p:cNvPr id="63" name="Google Shape;63;p14"/>
          <p:cNvSpPr txBox="1"/>
          <p:nvPr>
            <p:ph idx="3" type="body"/>
          </p:nvPr>
        </p:nvSpPr>
        <p:spPr>
          <a:xfrm>
            <a:off x="628650" y="530107"/>
            <a:ext cx="8142000" cy="559800"/>
          </a:xfrm>
          <a:prstGeom prst="rect">
            <a:avLst/>
          </a:prstGeom>
          <a:noFill/>
          <a:ln>
            <a:noFill/>
          </a:ln>
        </p:spPr>
        <p:txBody>
          <a:bodyPr anchorCtr="0" anchor="t" bIns="34275" lIns="68575" spcFirstLastPara="1" rIns="68575" wrap="square" tIns="34275">
            <a:normAutofit/>
          </a:bodyPr>
          <a:lstStyle>
            <a:lvl1pPr indent="-228600" lvl="0" marL="457200" marR="0" algn="l">
              <a:lnSpc>
                <a:spcPct val="90000"/>
              </a:lnSpc>
              <a:spcBef>
                <a:spcPts val="800"/>
              </a:spcBef>
              <a:spcAft>
                <a:spcPts val="0"/>
              </a:spcAft>
              <a:buClr>
                <a:srgbClr val="124734"/>
              </a:buClr>
              <a:buSzPts val="4100"/>
              <a:buFont typeface="Arial"/>
              <a:buNone/>
              <a:defRPr b="0" i="0" sz="4100" u="none" cap="none" strike="noStrike">
                <a:solidFill>
                  <a:srgbClr val="124734"/>
                </a:solidFill>
                <a:latin typeface="Arial"/>
                <a:ea typeface="Arial"/>
                <a:cs typeface="Arial"/>
                <a:sym typeface="Arial"/>
              </a:defRPr>
            </a:lvl1pPr>
            <a:lvl2pPr indent="-342900" lvl="1" marL="914400" marR="0" algn="l">
              <a:lnSpc>
                <a:spcPct val="90000"/>
              </a:lnSpc>
              <a:spcBef>
                <a:spcPts val="12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1200"/>
              </a:spcBef>
              <a:spcAft>
                <a:spcPts val="120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p:cSld name="3_Title Slide">
    <p:bg>
      <p:bgPr>
        <a:solidFill>
          <a:schemeClr val="lt1"/>
        </a:solidFill>
      </p:bgPr>
    </p:bg>
    <p:spTree>
      <p:nvGrpSpPr>
        <p:cNvPr id="64" name="Shape 64"/>
        <p:cNvGrpSpPr/>
        <p:nvPr/>
      </p:nvGrpSpPr>
      <p:grpSpPr>
        <a:xfrm>
          <a:off x="0" y="0"/>
          <a:ext cx="0" cy="0"/>
          <a:chOff x="0" y="0"/>
          <a:chExt cx="0" cy="0"/>
        </a:xfrm>
      </p:grpSpPr>
      <p:sp>
        <p:nvSpPr>
          <p:cNvPr id="65" name="Google Shape;65;p15"/>
          <p:cNvSpPr txBox="1"/>
          <p:nvPr>
            <p:ph idx="1" type="subTitle"/>
          </p:nvPr>
        </p:nvSpPr>
        <p:spPr>
          <a:xfrm>
            <a:off x="628650" y="1379575"/>
            <a:ext cx="7867800" cy="3150300"/>
          </a:xfrm>
          <a:prstGeom prst="rect">
            <a:avLst/>
          </a:prstGeom>
          <a:noFill/>
          <a:ln>
            <a:noFill/>
          </a:ln>
        </p:spPr>
        <p:txBody>
          <a:bodyPr anchorCtr="0" anchor="t" bIns="34275" lIns="68575" spcFirstLastPara="1" rIns="68575" wrap="square" tIns="34275">
            <a:normAutofit/>
          </a:bodyPr>
          <a:lstStyle>
            <a:lvl1pPr lvl="0" marR="0" algn="l">
              <a:lnSpc>
                <a:spcPct val="100000"/>
              </a:lnSpc>
              <a:spcBef>
                <a:spcPts val="800"/>
              </a:spcBef>
              <a:spcAft>
                <a:spcPts val="0"/>
              </a:spcAft>
              <a:buClr>
                <a:srgbClr val="FFC629"/>
              </a:buClr>
              <a:buSzPts val="1700"/>
              <a:buFont typeface="Arial"/>
              <a:buChar char="•"/>
              <a:defRPr b="0" i="0" sz="1700" u="none" cap="none" strike="noStrike">
                <a:solidFill>
                  <a:schemeClr val="dk1"/>
                </a:solidFill>
                <a:latin typeface="Arial"/>
                <a:ea typeface="Arial"/>
                <a:cs typeface="Arial"/>
                <a:sym typeface="Arial"/>
              </a:defRPr>
            </a:lvl1pPr>
            <a:lvl2pPr lvl="1" marR="0" algn="ctr">
              <a:lnSpc>
                <a:spcPct val="90000"/>
              </a:lnSpc>
              <a:spcBef>
                <a:spcPts val="12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2pPr>
            <a:lvl3pPr lvl="2" marR="0" algn="ctr">
              <a:lnSpc>
                <a:spcPct val="90000"/>
              </a:lnSpc>
              <a:spcBef>
                <a:spcPts val="12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3pPr>
            <a:lvl4pPr lvl="3" marR="0" algn="ctr">
              <a:lnSpc>
                <a:spcPct val="90000"/>
              </a:lnSpc>
              <a:spcBef>
                <a:spcPts val="12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4pPr>
            <a:lvl5pPr lvl="4" marR="0" algn="ctr">
              <a:lnSpc>
                <a:spcPct val="90000"/>
              </a:lnSpc>
              <a:spcBef>
                <a:spcPts val="12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5pPr>
            <a:lvl6pPr lvl="5" marR="0" algn="ctr">
              <a:lnSpc>
                <a:spcPct val="90000"/>
              </a:lnSpc>
              <a:spcBef>
                <a:spcPts val="12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6pPr>
            <a:lvl7pPr lvl="6" marR="0" algn="ctr">
              <a:lnSpc>
                <a:spcPct val="90000"/>
              </a:lnSpc>
              <a:spcBef>
                <a:spcPts val="12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7pPr>
            <a:lvl8pPr lvl="7" marR="0" algn="ctr">
              <a:lnSpc>
                <a:spcPct val="90000"/>
              </a:lnSpc>
              <a:spcBef>
                <a:spcPts val="12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8pPr>
            <a:lvl9pPr lvl="8" marR="0" algn="ctr">
              <a:lnSpc>
                <a:spcPct val="90000"/>
              </a:lnSpc>
              <a:spcBef>
                <a:spcPts val="1200"/>
              </a:spcBef>
              <a:spcAft>
                <a:spcPts val="1200"/>
              </a:spcAft>
              <a:buClr>
                <a:schemeClr val="dk1"/>
              </a:buClr>
              <a:buSzPts val="1200"/>
              <a:buFont typeface="Arial"/>
              <a:buNone/>
              <a:defRPr b="0" i="0" sz="1200" u="none" cap="none" strike="noStrike">
                <a:solidFill>
                  <a:schemeClr val="dk1"/>
                </a:solidFill>
                <a:latin typeface="Calibri"/>
                <a:ea typeface="Calibri"/>
                <a:cs typeface="Calibri"/>
                <a:sym typeface="Calibri"/>
              </a:defRPr>
            </a:lvl9pPr>
          </a:lstStyle>
          <a:p/>
        </p:txBody>
      </p:sp>
      <p:sp>
        <p:nvSpPr>
          <p:cNvPr id="66" name="Google Shape;66;p15"/>
          <p:cNvSpPr/>
          <p:nvPr/>
        </p:nvSpPr>
        <p:spPr>
          <a:xfrm flipH="1" rot="10800000">
            <a:off x="0" y="4843355"/>
            <a:ext cx="7158600" cy="34200"/>
          </a:xfrm>
          <a:prstGeom prst="rect">
            <a:avLst/>
          </a:prstGeom>
          <a:solidFill>
            <a:srgbClr val="FFC62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67" name="Google Shape;67;p15"/>
          <p:cNvPicPr preferRelativeResize="0"/>
          <p:nvPr/>
        </p:nvPicPr>
        <p:blipFill rotWithShape="1">
          <a:blip r:embed="rId2">
            <a:alphaModFix/>
          </a:blip>
          <a:srcRect b="0" l="0" r="0" t="0"/>
          <a:stretch/>
        </p:blipFill>
        <p:spPr>
          <a:xfrm>
            <a:off x="7258050" y="4718327"/>
            <a:ext cx="1718375" cy="284167"/>
          </a:xfrm>
          <a:prstGeom prst="rect">
            <a:avLst/>
          </a:prstGeom>
          <a:noFill/>
          <a:ln>
            <a:noFill/>
          </a:ln>
        </p:spPr>
      </p:pic>
      <p:sp>
        <p:nvSpPr>
          <p:cNvPr id="68" name="Google Shape;68;p15"/>
          <p:cNvSpPr txBox="1"/>
          <p:nvPr>
            <p:ph idx="2" type="body"/>
          </p:nvPr>
        </p:nvSpPr>
        <p:spPr>
          <a:xfrm>
            <a:off x="628650" y="530107"/>
            <a:ext cx="8142000" cy="559800"/>
          </a:xfrm>
          <a:prstGeom prst="rect">
            <a:avLst/>
          </a:prstGeom>
          <a:noFill/>
          <a:ln>
            <a:noFill/>
          </a:ln>
        </p:spPr>
        <p:txBody>
          <a:bodyPr anchorCtr="0" anchor="t" bIns="34275" lIns="68575" spcFirstLastPara="1" rIns="68575" wrap="square" tIns="34275">
            <a:normAutofit/>
          </a:bodyPr>
          <a:lstStyle>
            <a:lvl1pPr indent="-228600" lvl="0" marL="457200" marR="0" algn="l">
              <a:lnSpc>
                <a:spcPct val="90000"/>
              </a:lnSpc>
              <a:spcBef>
                <a:spcPts val="800"/>
              </a:spcBef>
              <a:spcAft>
                <a:spcPts val="0"/>
              </a:spcAft>
              <a:buClr>
                <a:srgbClr val="124734"/>
              </a:buClr>
              <a:buSzPts val="4100"/>
              <a:buFont typeface="Arial"/>
              <a:buNone/>
              <a:defRPr b="0" i="0" sz="4100" u="none" cap="none" strike="noStrike">
                <a:solidFill>
                  <a:srgbClr val="124734"/>
                </a:solidFill>
                <a:latin typeface="Arial"/>
                <a:ea typeface="Arial"/>
                <a:cs typeface="Arial"/>
                <a:sym typeface="Arial"/>
              </a:defRPr>
            </a:lvl1pPr>
            <a:lvl2pPr indent="-342900" lvl="1" marL="914400" marR="0" algn="l">
              <a:lnSpc>
                <a:spcPct val="90000"/>
              </a:lnSpc>
              <a:spcBef>
                <a:spcPts val="12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1200"/>
              </a:spcBef>
              <a:spcAft>
                <a:spcPts val="120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2" name="Shape 72"/>
        <p:cNvGrpSpPr/>
        <p:nvPr/>
      </p:nvGrpSpPr>
      <p:grpSpPr>
        <a:xfrm>
          <a:off x="0" y="0"/>
          <a:ext cx="0" cy="0"/>
          <a:chOff x="0" y="0"/>
          <a:chExt cx="0" cy="0"/>
        </a:xfrm>
      </p:grpSpPr>
      <p:sp>
        <p:nvSpPr>
          <p:cNvPr id="73" name="Google Shape;73;p16"/>
          <p:cNvSpPr txBox="1"/>
          <p:nvPr>
            <p:ph type="ctrTitle"/>
          </p:nvPr>
        </p:nvSpPr>
        <p:spPr>
          <a:xfrm>
            <a:off x="615171" y="916208"/>
            <a:ext cx="8050530" cy="705367"/>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rgbClr val="FFC629"/>
              </a:buClr>
              <a:buSzPts val="4500"/>
              <a:buFont typeface="Arial"/>
              <a:buNone/>
            </a:pPr>
            <a:r>
              <a:rPr lang="en-GB"/>
              <a:t>ENSE271-CharityHub </a:t>
            </a:r>
            <a:endParaRPr/>
          </a:p>
        </p:txBody>
      </p:sp>
      <p:sp>
        <p:nvSpPr>
          <p:cNvPr id="74" name="Google Shape;74;p16"/>
          <p:cNvSpPr txBox="1"/>
          <p:nvPr>
            <p:ph idx="1" type="subTitle"/>
          </p:nvPr>
        </p:nvSpPr>
        <p:spPr>
          <a:xfrm>
            <a:off x="515275" y="2238975"/>
            <a:ext cx="8050500" cy="1114800"/>
          </a:xfrm>
          <a:prstGeom prst="rect">
            <a:avLst/>
          </a:prstGeom>
          <a:noFill/>
          <a:ln>
            <a:noFill/>
          </a:ln>
        </p:spPr>
        <p:txBody>
          <a:bodyPr anchorCtr="0" anchor="t" bIns="34275" lIns="68575" spcFirstLastPara="1" rIns="68575" wrap="square" tIns="34275">
            <a:normAutofit fontScale="32500" lnSpcReduction="20000"/>
          </a:bodyPr>
          <a:lstStyle/>
          <a:p>
            <a:pPr indent="0" lvl="0" marL="0" rtl="0" algn="l">
              <a:lnSpc>
                <a:spcPct val="90000"/>
              </a:lnSpc>
              <a:spcBef>
                <a:spcPts val="800"/>
              </a:spcBef>
              <a:spcAft>
                <a:spcPts val="0"/>
              </a:spcAft>
              <a:buClr>
                <a:schemeClr val="lt1"/>
              </a:buClr>
              <a:buSzPct val="43515"/>
              <a:buNone/>
            </a:pPr>
            <a:r>
              <a:rPr lang="en-GB" sz="4136"/>
              <a:t>Team Members: </a:t>
            </a:r>
            <a:endParaRPr sz="4136"/>
          </a:p>
          <a:p>
            <a:pPr indent="0" lvl="0" marL="0" rtl="0" algn="l">
              <a:lnSpc>
                <a:spcPct val="90000"/>
              </a:lnSpc>
              <a:spcBef>
                <a:spcPts val="800"/>
              </a:spcBef>
              <a:spcAft>
                <a:spcPts val="0"/>
              </a:spcAft>
              <a:buClr>
                <a:schemeClr val="lt1"/>
              </a:buClr>
              <a:buSzPct val="43515"/>
              <a:buNone/>
            </a:pPr>
            <a:r>
              <a:rPr lang="en-GB" sz="4136"/>
              <a:t>Marc Aplaon </a:t>
            </a:r>
            <a:endParaRPr sz="4136"/>
          </a:p>
          <a:p>
            <a:pPr indent="0" lvl="0" marL="0" rtl="0" algn="l">
              <a:lnSpc>
                <a:spcPct val="90000"/>
              </a:lnSpc>
              <a:spcBef>
                <a:spcPts val="800"/>
              </a:spcBef>
              <a:spcAft>
                <a:spcPts val="0"/>
              </a:spcAft>
              <a:buClr>
                <a:schemeClr val="lt1"/>
              </a:buClr>
              <a:buSzPct val="43515"/>
              <a:buNone/>
            </a:pPr>
            <a:r>
              <a:rPr lang="en-GB" sz="4136"/>
              <a:t>Adai Yisah</a:t>
            </a:r>
            <a:endParaRPr sz="4136"/>
          </a:p>
          <a:p>
            <a:pPr indent="0" lvl="0" marL="0" rtl="0" algn="l">
              <a:lnSpc>
                <a:spcPct val="90000"/>
              </a:lnSpc>
              <a:spcBef>
                <a:spcPts val="800"/>
              </a:spcBef>
              <a:spcAft>
                <a:spcPts val="0"/>
              </a:spcAft>
              <a:buClr>
                <a:schemeClr val="lt1"/>
              </a:buClr>
              <a:buSzPct val="43515"/>
              <a:buNone/>
            </a:pPr>
            <a:r>
              <a:rPr lang="en-GB" sz="4136"/>
              <a:t>Maheen Siddique(200480228) </a:t>
            </a:r>
            <a:r>
              <a:rPr lang="en-GB"/>
              <a:t> </a:t>
            </a:r>
            <a:endParaRPr/>
          </a:p>
          <a:p>
            <a:pPr indent="0" lvl="0" marL="0" rtl="0" algn="l">
              <a:lnSpc>
                <a:spcPct val="90000"/>
              </a:lnSpc>
              <a:spcBef>
                <a:spcPts val="800"/>
              </a:spcBef>
              <a:spcAft>
                <a:spcPts val="1200"/>
              </a:spcAft>
              <a:buClr>
                <a:schemeClr val="lt1"/>
              </a:buClr>
              <a:buSzPct val="100000"/>
              <a:buNone/>
            </a:pPr>
            <a:r>
              <a:t/>
            </a:r>
            <a:endParaRPr/>
          </a:p>
        </p:txBody>
      </p:sp>
      <p:sp>
        <p:nvSpPr>
          <p:cNvPr id="75" name="Google Shape;75;p16"/>
          <p:cNvSpPr txBox="1"/>
          <p:nvPr>
            <p:ph idx="2" type="body"/>
          </p:nvPr>
        </p:nvSpPr>
        <p:spPr>
          <a:xfrm>
            <a:off x="182889" y="4378570"/>
            <a:ext cx="1684800" cy="411600"/>
          </a:xfrm>
          <a:prstGeom prst="rect">
            <a:avLst/>
          </a:prstGeom>
          <a:noFill/>
          <a:ln>
            <a:noFill/>
          </a:ln>
        </p:spPr>
        <p:txBody>
          <a:bodyPr anchorCtr="0" anchor="ctr" bIns="34275" lIns="68575" spcFirstLastPara="1" rIns="68575" wrap="square" tIns="34275">
            <a:normAutofit/>
          </a:bodyPr>
          <a:lstStyle/>
          <a:p>
            <a:pPr indent="0" lvl="0" marL="0" rtl="0" algn="l">
              <a:lnSpc>
                <a:spcPct val="100000"/>
              </a:lnSpc>
              <a:spcBef>
                <a:spcPts val="0"/>
              </a:spcBef>
              <a:spcAft>
                <a:spcPts val="1200"/>
              </a:spcAft>
              <a:buClr>
                <a:schemeClr val="dk1"/>
              </a:buClr>
              <a:buSzPts val="1400"/>
              <a:buNone/>
            </a:pPr>
            <a:r>
              <a:rPr lang="en-GB"/>
              <a:t>04/01/2025</a:t>
            </a:r>
            <a:endParaRPr/>
          </a:p>
        </p:txBody>
      </p:sp>
      <p:sp>
        <p:nvSpPr>
          <p:cNvPr id="76" name="Google Shape;76;p16"/>
          <p:cNvSpPr txBox="1"/>
          <p:nvPr/>
        </p:nvSpPr>
        <p:spPr>
          <a:xfrm>
            <a:off x="1738102" y="4378575"/>
            <a:ext cx="2739900" cy="457200"/>
          </a:xfrm>
          <a:prstGeom prst="rect">
            <a:avLst/>
          </a:prstGeom>
          <a:noFill/>
          <a:ln>
            <a:noFill/>
          </a:ln>
        </p:spPr>
        <p:txBody>
          <a:bodyPr anchorCtr="0" anchor="ctr" bIns="34275" lIns="68575" spcFirstLastPara="1" rIns="68575" wrap="square" tIns="34275">
            <a:spAutoFit/>
          </a:bodyPr>
          <a:lstStyle/>
          <a:p>
            <a:pPr indent="0" lvl="0" marL="0" marR="0" rtl="0" algn="r">
              <a:lnSpc>
                <a:spcPct val="90000"/>
              </a:lnSpc>
              <a:spcBef>
                <a:spcPts val="0"/>
              </a:spcBef>
              <a:spcAft>
                <a:spcPts val="0"/>
              </a:spcAft>
              <a:buClr>
                <a:schemeClr val="dk1"/>
              </a:buClr>
              <a:buSzPts val="1400"/>
              <a:buFont typeface="Arial"/>
              <a:buNone/>
            </a:pPr>
            <a:r>
              <a:rPr b="1" lang="en-GB">
                <a:solidFill>
                  <a:schemeClr val="dk1"/>
                </a:solidFill>
              </a:rPr>
              <a:t>People Centered Design </a:t>
            </a:r>
            <a:r>
              <a:rPr b="1" i="0" lang="en-GB" sz="1400" u="none" cap="none" strike="noStrike">
                <a:solidFill>
                  <a:schemeClr val="dk1"/>
                </a:solidFill>
                <a:latin typeface="Arial"/>
                <a:ea typeface="Arial"/>
                <a:cs typeface="Arial"/>
                <a:sym typeface="Arial"/>
              </a:rPr>
              <a:t>(</a:t>
            </a:r>
            <a:r>
              <a:rPr b="1" lang="en-GB">
                <a:solidFill>
                  <a:schemeClr val="dk1"/>
                </a:solidFill>
              </a:rPr>
              <a:t>ENSE271</a:t>
            </a:r>
            <a:r>
              <a:rPr b="1" i="0" lang="en-GB" sz="1400" u="none" cap="none" strike="noStrike">
                <a:solidFill>
                  <a:schemeClr val="dk1"/>
                </a:solidFill>
                <a:latin typeface="Arial"/>
                <a:ea typeface="Arial"/>
                <a:cs typeface="Arial"/>
                <a:sym typeface="Arial"/>
              </a:rPr>
              <a:t>)</a:t>
            </a:r>
            <a:endParaRPr sz="1100"/>
          </a:p>
        </p:txBody>
      </p:sp>
      <p:sp>
        <p:nvSpPr>
          <p:cNvPr id="77" name="Google Shape;77;p16"/>
          <p:cNvSpPr txBox="1"/>
          <p:nvPr>
            <p:ph idx="1" type="subTitle"/>
          </p:nvPr>
        </p:nvSpPr>
        <p:spPr>
          <a:xfrm>
            <a:off x="546750" y="3353775"/>
            <a:ext cx="8050500" cy="7989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Clr>
                <a:schemeClr val="lt1"/>
              </a:buClr>
              <a:buSzPts val="1800"/>
              <a:buNone/>
            </a:pPr>
            <a:r>
              <a:rPr lang="en-GB" sz="1200"/>
              <a:t>Project Sponsor: </a:t>
            </a:r>
            <a:br>
              <a:rPr lang="en-GB" sz="1200"/>
            </a:br>
            <a:r>
              <a:rPr lang="en-GB" sz="1200"/>
              <a:t>Tim Maciag-(ENSE271 Professor) </a:t>
            </a:r>
            <a:endParaRPr sz="850">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idx="1" type="subTitle"/>
          </p:nvPr>
        </p:nvSpPr>
        <p:spPr>
          <a:xfrm>
            <a:off x="628650" y="1379575"/>
            <a:ext cx="7782254" cy="3150397"/>
          </a:xfrm>
          <a:prstGeom prst="rect">
            <a:avLst/>
          </a:prstGeom>
          <a:noFill/>
          <a:ln>
            <a:noFill/>
          </a:ln>
        </p:spPr>
        <p:txBody>
          <a:bodyPr anchorCtr="0" anchor="t" bIns="34275" lIns="68575" spcFirstLastPara="1" rIns="68575" wrap="square" tIns="34275">
            <a:normAutofit/>
          </a:bodyPr>
          <a:lstStyle/>
          <a:p>
            <a:pPr indent="-247650" lvl="0" marL="254000" rtl="0" algn="l">
              <a:lnSpc>
                <a:spcPct val="100000"/>
              </a:lnSpc>
              <a:spcBef>
                <a:spcPts val="0"/>
              </a:spcBef>
              <a:spcAft>
                <a:spcPts val="0"/>
              </a:spcAft>
              <a:buClr>
                <a:schemeClr val="dk1"/>
              </a:buClr>
              <a:buSzPts val="2100"/>
              <a:buFont typeface="Arial"/>
              <a:buChar char="•"/>
            </a:pPr>
            <a:r>
              <a:rPr lang="en-GB" sz="2100">
                <a:latin typeface="Gill Sans"/>
                <a:ea typeface="Gill Sans"/>
                <a:cs typeface="Gill Sans"/>
                <a:sym typeface="Gill Sans"/>
              </a:rPr>
              <a:t>Introduction</a:t>
            </a:r>
            <a:endParaRPr/>
          </a:p>
          <a:p>
            <a:pPr indent="-247650" lvl="0" marL="254000" rtl="0" algn="l">
              <a:lnSpc>
                <a:spcPct val="100000"/>
              </a:lnSpc>
              <a:spcBef>
                <a:spcPts val="800"/>
              </a:spcBef>
              <a:spcAft>
                <a:spcPts val="0"/>
              </a:spcAft>
              <a:buClr>
                <a:schemeClr val="dk1"/>
              </a:buClr>
              <a:buSzPts val="2100"/>
              <a:buFont typeface="Arial"/>
              <a:buChar char="•"/>
            </a:pPr>
            <a:r>
              <a:rPr lang="en-GB" sz="2100">
                <a:latin typeface="Gill Sans"/>
                <a:ea typeface="Gill Sans"/>
                <a:cs typeface="Gill Sans"/>
                <a:sym typeface="Gill Sans"/>
              </a:rPr>
              <a:t>Problem Definition</a:t>
            </a:r>
            <a:endParaRPr/>
          </a:p>
          <a:p>
            <a:pPr indent="-247650" lvl="0" marL="254000" rtl="0" algn="l">
              <a:lnSpc>
                <a:spcPct val="100000"/>
              </a:lnSpc>
              <a:spcBef>
                <a:spcPts val="800"/>
              </a:spcBef>
              <a:spcAft>
                <a:spcPts val="0"/>
              </a:spcAft>
              <a:buClr>
                <a:schemeClr val="dk1"/>
              </a:buClr>
              <a:buSzPts val="2100"/>
              <a:buFont typeface="Arial"/>
              <a:buChar char="•"/>
            </a:pPr>
            <a:r>
              <a:rPr lang="en-GB" sz="2100">
                <a:latin typeface="Gill Sans"/>
                <a:ea typeface="Gill Sans"/>
                <a:cs typeface="Gill Sans"/>
                <a:sym typeface="Gill Sans"/>
              </a:rPr>
              <a:t>Northstar+Carryover Customers</a:t>
            </a:r>
            <a:endParaRPr/>
          </a:p>
          <a:p>
            <a:pPr indent="-247650" lvl="0" marL="254000" rtl="0" algn="l">
              <a:lnSpc>
                <a:spcPct val="100000"/>
              </a:lnSpc>
              <a:spcBef>
                <a:spcPts val="800"/>
              </a:spcBef>
              <a:spcAft>
                <a:spcPts val="0"/>
              </a:spcAft>
              <a:buClr>
                <a:schemeClr val="dk1"/>
              </a:buClr>
              <a:buSzPts val="2100"/>
              <a:buFont typeface="Arial"/>
              <a:buChar char="•"/>
            </a:pPr>
            <a:r>
              <a:rPr lang="en-GB" sz="2100">
                <a:latin typeface="Gill Sans"/>
                <a:ea typeface="Gill Sans"/>
                <a:cs typeface="Gill Sans"/>
                <a:sym typeface="Gill Sans"/>
              </a:rPr>
              <a:t>Wordpress</a:t>
            </a:r>
            <a:endParaRPr/>
          </a:p>
          <a:p>
            <a:pPr indent="-247650" lvl="0" marL="254000" rtl="0" algn="l">
              <a:lnSpc>
                <a:spcPct val="100000"/>
              </a:lnSpc>
              <a:spcBef>
                <a:spcPts val="800"/>
              </a:spcBef>
              <a:spcAft>
                <a:spcPts val="0"/>
              </a:spcAft>
              <a:buClr>
                <a:schemeClr val="dk1"/>
              </a:buClr>
              <a:buSzPts val="2100"/>
              <a:buFont typeface="Arial"/>
              <a:buChar char="•"/>
            </a:pPr>
            <a:r>
              <a:rPr lang="en-GB" sz="2100">
                <a:latin typeface="Gill Sans"/>
                <a:ea typeface="Gill Sans"/>
                <a:cs typeface="Gill Sans"/>
                <a:sym typeface="Gill Sans"/>
              </a:rPr>
              <a:t>Demo</a:t>
            </a:r>
            <a:endParaRPr/>
          </a:p>
          <a:p>
            <a:pPr indent="-247650" lvl="0" marL="254000" rtl="0" algn="l">
              <a:lnSpc>
                <a:spcPct val="100000"/>
              </a:lnSpc>
              <a:spcBef>
                <a:spcPts val="800"/>
              </a:spcBef>
              <a:spcAft>
                <a:spcPts val="1200"/>
              </a:spcAft>
              <a:buClr>
                <a:schemeClr val="dk1"/>
              </a:buClr>
              <a:buSzPts val="2100"/>
              <a:buFont typeface="Arial"/>
              <a:buChar char="•"/>
            </a:pPr>
            <a:r>
              <a:rPr lang="en-GB" sz="2100">
                <a:latin typeface="Gill Sans"/>
                <a:ea typeface="Gill Sans"/>
                <a:cs typeface="Gill Sans"/>
                <a:sym typeface="Gill Sans"/>
              </a:rPr>
              <a:t>Q/A</a:t>
            </a:r>
            <a:endParaRPr/>
          </a:p>
        </p:txBody>
      </p:sp>
      <p:sp>
        <p:nvSpPr>
          <p:cNvPr id="84" name="Google Shape;84;p17"/>
          <p:cNvSpPr txBox="1"/>
          <p:nvPr>
            <p:ph idx="3" type="body"/>
          </p:nvPr>
        </p:nvSpPr>
        <p:spPr>
          <a:xfrm>
            <a:off x="628650" y="530108"/>
            <a:ext cx="8141971" cy="559770"/>
          </a:xfrm>
          <a:prstGeom prst="rect">
            <a:avLst/>
          </a:prstGeom>
          <a:noFill/>
          <a:ln>
            <a:noFill/>
          </a:ln>
        </p:spPr>
        <p:txBody>
          <a:bodyPr anchorCtr="0" anchor="t" bIns="34275" lIns="68575" spcFirstLastPara="1" rIns="68575" wrap="square" tIns="34275">
            <a:normAutofit lnSpcReduction="20000"/>
          </a:bodyPr>
          <a:lstStyle/>
          <a:p>
            <a:pPr indent="0" lvl="0" marL="0" rtl="0" algn="l">
              <a:lnSpc>
                <a:spcPct val="90000"/>
              </a:lnSpc>
              <a:spcBef>
                <a:spcPts val="0"/>
              </a:spcBef>
              <a:spcAft>
                <a:spcPts val="1200"/>
              </a:spcAft>
              <a:buClr>
                <a:srgbClr val="124734"/>
              </a:buClr>
              <a:buSzPts val="4100"/>
              <a:buNone/>
            </a:pPr>
            <a:r>
              <a:rPr lang="en-GB"/>
              <a:t>Agenda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idx="2" type="body"/>
          </p:nvPr>
        </p:nvSpPr>
        <p:spPr>
          <a:xfrm>
            <a:off x="501014" y="410082"/>
            <a:ext cx="8141971" cy="55977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1200"/>
              </a:spcAft>
              <a:buClr>
                <a:srgbClr val="124734"/>
              </a:buClr>
              <a:buSzPts val="3300"/>
              <a:buNone/>
            </a:pPr>
            <a:r>
              <a:rPr lang="en-GB" sz="3300">
                <a:latin typeface="Arial"/>
                <a:ea typeface="Arial"/>
                <a:cs typeface="Arial"/>
                <a:sym typeface="Arial"/>
              </a:rPr>
              <a:t>Introduction</a:t>
            </a:r>
            <a:endParaRPr/>
          </a:p>
        </p:txBody>
      </p:sp>
      <p:sp>
        <p:nvSpPr>
          <p:cNvPr id="91" name="Google Shape;91;p18"/>
          <p:cNvSpPr txBox="1"/>
          <p:nvPr/>
        </p:nvSpPr>
        <p:spPr>
          <a:xfrm>
            <a:off x="501014" y="1072210"/>
            <a:ext cx="8050830" cy="3457855"/>
          </a:xfrm>
          <a:prstGeom prst="rect">
            <a:avLst/>
          </a:prstGeom>
          <a:noFill/>
          <a:ln>
            <a:noFill/>
          </a:ln>
        </p:spPr>
        <p:txBody>
          <a:bodyPr anchorCtr="0" anchor="t" bIns="34275" lIns="68575" spcFirstLastPara="1" rIns="68575" wrap="square" tIns="34275">
            <a:noAutofit/>
          </a:bodyPr>
          <a:lstStyle/>
          <a:p>
            <a:pPr indent="0" lvl="0" marL="0" rtl="0" algn="l">
              <a:lnSpc>
                <a:spcPct val="200000"/>
              </a:lnSpc>
              <a:spcBef>
                <a:spcPts val="1200"/>
              </a:spcBef>
              <a:spcAft>
                <a:spcPts val="0"/>
              </a:spcAft>
              <a:buClr>
                <a:schemeClr val="dk1"/>
              </a:buClr>
              <a:buSzPts val="1100"/>
              <a:buFont typeface="Arial"/>
              <a:buNone/>
            </a:pPr>
            <a:r>
              <a:rPr b="1" lang="en-GB" sz="1100">
                <a:solidFill>
                  <a:schemeClr val="dk1"/>
                </a:solidFill>
              </a:rPr>
              <a:t>Charity Hub is a centralized resource platform that connects both nonprofit organizations and members of the community to valuable tools, knowledge, and opportunities.</a:t>
            </a:r>
            <a:endParaRPr b="1" sz="1100">
              <a:solidFill>
                <a:schemeClr val="dk1"/>
              </a:solidFill>
            </a:endParaRPr>
          </a:p>
          <a:p>
            <a:pPr indent="0" lvl="0" marL="0" rtl="0" algn="l">
              <a:lnSpc>
                <a:spcPct val="200000"/>
              </a:lnSpc>
              <a:spcBef>
                <a:spcPts val="1200"/>
              </a:spcBef>
              <a:spcAft>
                <a:spcPts val="0"/>
              </a:spcAft>
              <a:buClr>
                <a:schemeClr val="dk1"/>
              </a:buClr>
              <a:buSzPts val="1100"/>
              <a:buFont typeface="Arial"/>
              <a:buNone/>
            </a:pPr>
            <a:r>
              <a:rPr lang="en-GB" sz="1100">
                <a:solidFill>
                  <a:schemeClr val="dk1"/>
                </a:solidFill>
              </a:rPr>
              <a:t>Visitors can explore key topics such as fundraising, grant writing, marketing, and governance—all aimed at helping charities operate effectively and allowing the public to engage meaningfully.  Each page features curated links, and call-to-actions, empowering users to take their next step—whether they're running a nonprofit or looking to make a difference.</a:t>
            </a:r>
            <a:endParaRPr sz="1800">
              <a:solidFill>
                <a:schemeClr val="dk1"/>
              </a:solidFill>
            </a:endParaRPr>
          </a:p>
          <a:p>
            <a:pPr indent="-12700" lvl="0" marL="12700" rtl="0" algn="l">
              <a:lnSpc>
                <a:spcPct val="90000"/>
              </a:lnSpc>
              <a:spcBef>
                <a:spcPts val="1200"/>
              </a:spcBef>
              <a:spcAft>
                <a:spcPts val="0"/>
              </a:spcAft>
              <a:buClr>
                <a:schemeClr val="dk1"/>
              </a:buClr>
              <a:buSzPts val="1100"/>
              <a:buFont typeface="Arial"/>
              <a:buNone/>
            </a:pPr>
            <a:r>
              <a:t/>
            </a:r>
            <a:endParaRPr sz="2050">
              <a:solidFill>
                <a:schemeClr val="dk1"/>
              </a:solidFill>
            </a:endParaRPr>
          </a:p>
          <a:p>
            <a:pPr indent="-279400" lvl="0" marL="381000" marR="0" rtl="0" algn="l">
              <a:lnSpc>
                <a:spcPct val="90000"/>
              </a:lnSpc>
              <a:spcBef>
                <a:spcPts val="500"/>
              </a:spcBef>
              <a:spcAft>
                <a:spcPts val="0"/>
              </a:spcAft>
              <a:buClr>
                <a:srgbClr val="FFC629"/>
              </a:buClr>
              <a:buSzPts val="1500"/>
              <a:buFont typeface="Calibri"/>
              <a:buNone/>
            </a:pPr>
            <a:r>
              <a:t/>
            </a:r>
            <a:endParaRPr sz="2400">
              <a:solidFill>
                <a:schemeClr val="dk1"/>
              </a:solidFill>
              <a:latin typeface="Gill Sans"/>
              <a:ea typeface="Gill Sans"/>
              <a:cs typeface="Gill Sans"/>
              <a:sym typeface="Gill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idx="2" type="body"/>
          </p:nvPr>
        </p:nvSpPr>
        <p:spPr>
          <a:xfrm>
            <a:off x="501014" y="410082"/>
            <a:ext cx="8141971" cy="55977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1200"/>
              </a:spcAft>
              <a:buClr>
                <a:srgbClr val="124734"/>
              </a:buClr>
              <a:buSzPts val="3300"/>
              <a:buNone/>
            </a:pPr>
            <a:r>
              <a:rPr lang="en-GB" sz="3300">
                <a:latin typeface="Arial"/>
                <a:ea typeface="Arial"/>
                <a:cs typeface="Arial"/>
                <a:sym typeface="Arial"/>
              </a:rPr>
              <a:t>Problem Definition</a:t>
            </a:r>
            <a:endParaRPr/>
          </a:p>
        </p:txBody>
      </p:sp>
      <p:sp>
        <p:nvSpPr>
          <p:cNvPr id="98" name="Google Shape;98;p19"/>
          <p:cNvSpPr txBox="1"/>
          <p:nvPr/>
        </p:nvSpPr>
        <p:spPr>
          <a:xfrm>
            <a:off x="546600" y="867725"/>
            <a:ext cx="8050800" cy="3953400"/>
          </a:xfrm>
          <a:prstGeom prst="rect">
            <a:avLst/>
          </a:prstGeom>
          <a:noFill/>
          <a:ln>
            <a:noFill/>
          </a:ln>
        </p:spPr>
        <p:txBody>
          <a:bodyPr anchorCtr="0" anchor="t" bIns="34275" lIns="68575" spcFirstLastPara="1" rIns="68575" wrap="square" tIns="34275">
            <a:noAutofit/>
          </a:bodyPr>
          <a:lstStyle/>
          <a:p>
            <a:pPr indent="0" lvl="0" marL="0" rtl="0" algn="l">
              <a:lnSpc>
                <a:spcPct val="200000"/>
              </a:lnSpc>
              <a:spcBef>
                <a:spcPts val="1200"/>
              </a:spcBef>
              <a:spcAft>
                <a:spcPts val="0"/>
              </a:spcAft>
              <a:buNone/>
            </a:pPr>
            <a:r>
              <a:rPr lang="en-GB" sz="1100">
                <a:solidFill>
                  <a:schemeClr val="dk1"/>
                </a:solidFill>
              </a:rPr>
              <a:t>Charity Hub addresses a two-sided gap in the nonprofit space:</a:t>
            </a:r>
            <a:endParaRPr sz="1100">
              <a:solidFill>
                <a:schemeClr val="dk1"/>
              </a:solidFill>
            </a:endParaRPr>
          </a:p>
          <a:p>
            <a:pPr indent="0" lvl="0" marL="0" rtl="0" algn="l">
              <a:lnSpc>
                <a:spcPct val="200000"/>
              </a:lnSpc>
              <a:spcBef>
                <a:spcPts val="1200"/>
              </a:spcBef>
              <a:spcAft>
                <a:spcPts val="0"/>
              </a:spcAft>
              <a:buNone/>
            </a:pPr>
            <a:r>
              <a:rPr b="1" lang="en-GB" sz="1100">
                <a:solidFill>
                  <a:schemeClr val="dk1"/>
                </a:solidFill>
              </a:rPr>
              <a:t>Charities</a:t>
            </a:r>
            <a:r>
              <a:rPr lang="en-GB" sz="1100">
                <a:solidFill>
                  <a:schemeClr val="dk1"/>
                </a:solidFill>
              </a:rPr>
              <a:t> often struggle to access centralized, easy-to-use resources for growth, outreach, and operations.</a:t>
            </a:r>
            <a:endParaRPr sz="1100">
              <a:solidFill>
                <a:schemeClr val="dk1"/>
              </a:solidFill>
            </a:endParaRPr>
          </a:p>
          <a:p>
            <a:pPr indent="0" lvl="0" marL="0" rtl="0" algn="l">
              <a:lnSpc>
                <a:spcPct val="200000"/>
              </a:lnSpc>
              <a:spcBef>
                <a:spcPts val="1200"/>
              </a:spcBef>
              <a:spcAft>
                <a:spcPts val="0"/>
              </a:spcAft>
              <a:buNone/>
            </a:pPr>
            <a:r>
              <a:rPr b="1" lang="en-GB" sz="1100">
                <a:solidFill>
                  <a:schemeClr val="dk1"/>
                </a:solidFill>
              </a:rPr>
              <a:t>Community members</a:t>
            </a:r>
            <a:r>
              <a:rPr lang="en-GB" sz="1100">
                <a:solidFill>
                  <a:schemeClr val="dk1"/>
                </a:solidFill>
              </a:rPr>
              <a:t> often don’t know how to meaningfully engage with charities—how to donate, volunteer, or understand the impact of their support.</a:t>
            </a:r>
            <a:endParaRPr sz="1100">
              <a:solidFill>
                <a:schemeClr val="dk1"/>
              </a:solidFill>
            </a:endParaRPr>
          </a:p>
          <a:p>
            <a:pPr indent="0" lvl="0" marL="0" rtl="0" algn="l">
              <a:lnSpc>
                <a:spcPct val="200000"/>
              </a:lnSpc>
              <a:spcBef>
                <a:spcPts val="1200"/>
              </a:spcBef>
              <a:spcAft>
                <a:spcPts val="0"/>
              </a:spcAft>
              <a:buNone/>
            </a:pPr>
            <a:r>
              <a:rPr lang="en-GB" sz="1100">
                <a:solidFill>
                  <a:schemeClr val="dk1"/>
                </a:solidFill>
              </a:rPr>
              <a:t>Charity Hub provides a centralized, accessible space to connect charities with tools they need, and empowers the public with clear ways to get involved—turning interest into real-world action.</a:t>
            </a:r>
            <a:endParaRPr sz="1100">
              <a:solidFill>
                <a:schemeClr val="dk1"/>
              </a:solidFill>
            </a:endParaRPr>
          </a:p>
          <a:p>
            <a:pPr indent="0" lvl="0" marL="0" rtl="0" algn="l">
              <a:lnSpc>
                <a:spcPct val="200000"/>
              </a:lnSpc>
              <a:spcBef>
                <a:spcPts val="1200"/>
              </a:spcBef>
              <a:spcAft>
                <a:spcPts val="0"/>
              </a:spcAft>
              <a:buClr>
                <a:schemeClr val="dk1"/>
              </a:buClr>
              <a:buSzPts val="1100"/>
              <a:buFont typeface="Arial"/>
              <a:buNone/>
            </a:pPr>
            <a:r>
              <a:t/>
            </a:r>
            <a:endParaRPr sz="1300">
              <a:solidFill>
                <a:schemeClr val="dk1"/>
              </a:solidFill>
            </a:endParaRPr>
          </a:p>
          <a:p>
            <a:pPr indent="-279400" lvl="0" marL="381000" marR="0" rtl="0" algn="l">
              <a:lnSpc>
                <a:spcPct val="90000"/>
              </a:lnSpc>
              <a:spcBef>
                <a:spcPts val="500"/>
              </a:spcBef>
              <a:spcAft>
                <a:spcPts val="0"/>
              </a:spcAft>
              <a:buClr>
                <a:srgbClr val="FFC629"/>
              </a:buClr>
              <a:buSzPts val="1500"/>
              <a:buFont typeface="Calibri"/>
              <a:buNone/>
            </a:pPr>
            <a:r>
              <a:t/>
            </a:r>
            <a:endParaRPr sz="2400">
              <a:solidFill>
                <a:schemeClr val="dk1"/>
              </a:solidFill>
              <a:latin typeface="Gill Sans"/>
              <a:ea typeface="Gill Sans"/>
              <a:cs typeface="Gill Sans"/>
              <a:sym typeface="Gill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idx="2" type="body"/>
          </p:nvPr>
        </p:nvSpPr>
        <p:spPr>
          <a:xfrm>
            <a:off x="501014" y="410082"/>
            <a:ext cx="8141971" cy="55977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1200"/>
              </a:spcAft>
              <a:buClr>
                <a:srgbClr val="124734"/>
              </a:buClr>
              <a:buSzPts val="3300"/>
              <a:buNone/>
            </a:pPr>
            <a:r>
              <a:rPr lang="en-GB" sz="3300"/>
              <a:t>Northstar + Carryover Customers </a:t>
            </a:r>
            <a:endParaRPr/>
          </a:p>
        </p:txBody>
      </p:sp>
      <p:sp>
        <p:nvSpPr>
          <p:cNvPr id="105" name="Google Shape;105;p20"/>
          <p:cNvSpPr txBox="1"/>
          <p:nvPr/>
        </p:nvSpPr>
        <p:spPr>
          <a:xfrm>
            <a:off x="501025" y="1072200"/>
            <a:ext cx="8197200" cy="3795900"/>
          </a:xfrm>
          <a:prstGeom prst="rect">
            <a:avLst/>
          </a:prstGeom>
          <a:noFill/>
          <a:ln>
            <a:noFill/>
          </a:ln>
        </p:spPr>
        <p:txBody>
          <a:bodyPr anchorCtr="0" anchor="t" bIns="34275" lIns="68575" spcFirstLastPara="1" rIns="68575" wrap="square" tIns="34275">
            <a:noAutofit/>
          </a:bodyPr>
          <a:lstStyle/>
          <a:p>
            <a:pPr indent="0" lvl="0" marL="0" rtl="0" algn="l">
              <a:lnSpc>
                <a:spcPct val="200000"/>
              </a:lnSpc>
              <a:spcBef>
                <a:spcPts val="0"/>
              </a:spcBef>
              <a:spcAft>
                <a:spcPts val="0"/>
              </a:spcAft>
              <a:buClr>
                <a:schemeClr val="dk1"/>
              </a:buClr>
              <a:buSzPts val="1100"/>
              <a:buFont typeface="Arial"/>
              <a:buNone/>
            </a:pPr>
            <a:r>
              <a:rPr b="1" i="1" lang="en-GB" sz="1100" u="sng">
                <a:solidFill>
                  <a:schemeClr val="dk1"/>
                </a:solidFill>
              </a:rPr>
              <a:t>Northstar Customers</a:t>
            </a:r>
            <a:endParaRPr b="1" i="1" sz="1100" u="sng">
              <a:solidFill>
                <a:schemeClr val="dk1"/>
              </a:solidFill>
            </a:endParaRPr>
          </a:p>
          <a:p>
            <a:pPr indent="0" lvl="0" marL="0" rtl="0" algn="l">
              <a:lnSpc>
                <a:spcPct val="200000"/>
              </a:lnSpc>
              <a:spcBef>
                <a:spcPts val="0"/>
              </a:spcBef>
              <a:spcAft>
                <a:spcPts val="0"/>
              </a:spcAft>
              <a:buClr>
                <a:schemeClr val="dk1"/>
              </a:buClr>
              <a:buSzPts val="1100"/>
              <a:buFont typeface="Arial"/>
              <a:buNone/>
            </a:pPr>
            <a:r>
              <a:rPr b="1" lang="en-GB" sz="1100">
                <a:solidFill>
                  <a:schemeClr val="dk1"/>
                </a:solidFill>
              </a:rPr>
              <a:t>Local Charitable Organizations in Saskatchewan</a:t>
            </a:r>
            <a:endParaRPr b="1" sz="1100">
              <a:solidFill>
                <a:schemeClr val="dk1"/>
              </a:solidFill>
            </a:endParaRPr>
          </a:p>
          <a:p>
            <a:pPr indent="0" lvl="0" marL="0" rtl="0" algn="l">
              <a:lnSpc>
                <a:spcPct val="200000"/>
              </a:lnSpc>
              <a:spcBef>
                <a:spcPts val="0"/>
              </a:spcBef>
              <a:spcAft>
                <a:spcPts val="0"/>
              </a:spcAft>
              <a:buClr>
                <a:schemeClr val="dk1"/>
              </a:buClr>
              <a:buSzPts val="1100"/>
              <a:buFont typeface="Arial"/>
              <a:buNone/>
            </a:pPr>
            <a:r>
              <a:rPr lang="en-GB" sz="1100">
                <a:solidFill>
                  <a:schemeClr val="dk1"/>
                </a:solidFill>
              </a:rPr>
              <a:t>These are small to mid-sized nonprofits seeking accessible tools to help them grow their impact. They need centralized access to fundraising guides, grant writing resources, governance templates, and communication strategies. Many lack the time or technical expertise to build websites or search for fragmented resources, and Charity Hub fills that gap with a one-stop digital solution.</a:t>
            </a:r>
            <a:endParaRPr>
              <a:solidFill>
                <a:srgbClr val="92D050"/>
              </a:solidFill>
            </a:endParaRPr>
          </a:p>
          <a:p>
            <a:pPr indent="0" lvl="0" marL="0" rtl="0" algn="l">
              <a:lnSpc>
                <a:spcPct val="200000"/>
              </a:lnSpc>
              <a:spcBef>
                <a:spcPts val="1200"/>
              </a:spcBef>
              <a:spcAft>
                <a:spcPts val="0"/>
              </a:spcAft>
              <a:buClr>
                <a:schemeClr val="dk1"/>
              </a:buClr>
              <a:buSzPts val="1100"/>
              <a:buFont typeface="Arial"/>
              <a:buNone/>
            </a:pPr>
            <a:r>
              <a:rPr b="1" i="1" lang="en-GB" sz="1100" u="sng">
                <a:solidFill>
                  <a:schemeClr val="dk1"/>
                </a:solidFill>
              </a:rPr>
              <a:t>Carryover Customer</a:t>
            </a:r>
            <a:endParaRPr b="1" i="1" sz="1100" u="sng">
              <a:solidFill>
                <a:schemeClr val="dk1"/>
              </a:solidFill>
            </a:endParaRPr>
          </a:p>
          <a:p>
            <a:pPr indent="0" lvl="0" marL="0" rtl="0" algn="l">
              <a:lnSpc>
                <a:spcPct val="200000"/>
              </a:lnSpc>
              <a:spcBef>
                <a:spcPts val="1200"/>
              </a:spcBef>
              <a:spcAft>
                <a:spcPts val="0"/>
              </a:spcAft>
              <a:buClr>
                <a:schemeClr val="dk1"/>
              </a:buClr>
              <a:buSzPts val="1100"/>
              <a:buFont typeface="Arial"/>
              <a:buNone/>
            </a:pPr>
            <a:r>
              <a:rPr b="1" lang="en-GB" sz="1100">
                <a:solidFill>
                  <a:schemeClr val="dk1"/>
                </a:solidFill>
              </a:rPr>
              <a:t>Community Members Interested in Giving Back</a:t>
            </a:r>
            <a:br>
              <a:rPr b="1" lang="en-GB" sz="1100">
                <a:solidFill>
                  <a:schemeClr val="dk1"/>
                </a:solidFill>
              </a:rPr>
            </a:br>
            <a:r>
              <a:rPr lang="en-GB" sz="1100">
                <a:solidFill>
                  <a:schemeClr val="dk1"/>
                </a:solidFill>
              </a:rPr>
              <a:t> These are individuals who want to support local charities but don’t know where to start. They may want to donate, volunteer, or simply learn more about how their contributions are used. Carrying over from our early persona research, this group benefits from clear information, guidance on how to engage, and a trustworthy platform to navigate the world of nonprofit support.</a:t>
            </a:r>
            <a:endParaRPr sz="1100">
              <a:solidFill>
                <a:schemeClr val="dk1"/>
              </a:solidFill>
            </a:endParaRPr>
          </a:p>
          <a:p>
            <a:pPr indent="0" lvl="0" marL="0" rtl="0" algn="l">
              <a:lnSpc>
                <a:spcPct val="150000"/>
              </a:lnSpc>
              <a:spcBef>
                <a:spcPts val="1200"/>
              </a:spcBef>
              <a:spcAft>
                <a:spcPts val="0"/>
              </a:spcAft>
              <a:buClr>
                <a:schemeClr val="dk1"/>
              </a:buClr>
              <a:buSzPts val="1100"/>
              <a:buFont typeface="Arial"/>
              <a:buNone/>
            </a:pPr>
            <a:r>
              <a:t/>
            </a:r>
            <a:endParaRPr b="1" u="sng">
              <a:solidFill>
                <a:schemeClr val="dk1"/>
              </a:solidFill>
            </a:endParaRPr>
          </a:p>
          <a:p>
            <a:pPr indent="0" lvl="0" marL="0" rtl="0" algn="l">
              <a:lnSpc>
                <a:spcPct val="150000"/>
              </a:lnSpc>
              <a:spcBef>
                <a:spcPts val="0"/>
              </a:spcBef>
              <a:spcAft>
                <a:spcPts val="0"/>
              </a:spcAft>
              <a:buClr>
                <a:schemeClr val="dk1"/>
              </a:buClr>
              <a:buSzPts val="1100"/>
              <a:buFont typeface="Arial"/>
              <a:buNone/>
            </a:pPr>
            <a:r>
              <a:t/>
            </a:r>
            <a:endParaRPr sz="1500">
              <a:solidFill>
                <a:schemeClr val="dk1"/>
              </a:solidFill>
            </a:endParaRPr>
          </a:p>
          <a:p>
            <a:pPr indent="0" lvl="0" marL="0" rtl="0" algn="l">
              <a:lnSpc>
                <a:spcPct val="150000"/>
              </a:lnSpc>
              <a:spcBef>
                <a:spcPts val="0"/>
              </a:spcBef>
              <a:spcAft>
                <a:spcPts val="0"/>
              </a:spcAft>
              <a:buClr>
                <a:schemeClr val="dk1"/>
              </a:buClr>
              <a:buSzPts val="1100"/>
              <a:buFont typeface="Arial"/>
              <a:buNone/>
            </a:pPr>
            <a:r>
              <a:t/>
            </a:r>
            <a:endParaRPr sz="2050">
              <a:solidFill>
                <a:schemeClr val="dk1"/>
              </a:solidFill>
            </a:endParaRPr>
          </a:p>
          <a:p>
            <a:pPr indent="-279400" lvl="0" marL="381000" marR="0" rtl="0" algn="l">
              <a:lnSpc>
                <a:spcPct val="90000"/>
              </a:lnSpc>
              <a:spcBef>
                <a:spcPts val="500"/>
              </a:spcBef>
              <a:spcAft>
                <a:spcPts val="0"/>
              </a:spcAft>
              <a:buClr>
                <a:srgbClr val="FFC629"/>
              </a:buClr>
              <a:buSzPts val="1500"/>
              <a:buFont typeface="Calibri"/>
              <a:buNone/>
            </a:pPr>
            <a:r>
              <a:t/>
            </a:r>
            <a:endParaRPr sz="2400">
              <a:solidFill>
                <a:schemeClr val="dk1"/>
              </a:solidFill>
              <a:latin typeface="Gill Sans"/>
              <a:ea typeface="Gill Sans"/>
              <a:cs typeface="Gill Sans"/>
              <a:sym typeface="Gill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idx="2" type="body"/>
          </p:nvPr>
        </p:nvSpPr>
        <p:spPr>
          <a:xfrm>
            <a:off x="501014" y="410082"/>
            <a:ext cx="8141971" cy="55977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1200"/>
              </a:spcAft>
              <a:buClr>
                <a:srgbClr val="124734"/>
              </a:buClr>
              <a:buSzPts val="3300"/>
              <a:buNone/>
            </a:pPr>
            <a:r>
              <a:rPr lang="en-GB" sz="3300"/>
              <a:t>Our Wordpress Configuration</a:t>
            </a:r>
            <a:endParaRPr/>
          </a:p>
        </p:txBody>
      </p:sp>
      <p:sp>
        <p:nvSpPr>
          <p:cNvPr id="112" name="Google Shape;112;p21"/>
          <p:cNvSpPr txBox="1"/>
          <p:nvPr/>
        </p:nvSpPr>
        <p:spPr>
          <a:xfrm>
            <a:off x="469550" y="899175"/>
            <a:ext cx="8387100" cy="3932100"/>
          </a:xfrm>
          <a:prstGeom prst="rect">
            <a:avLst/>
          </a:prstGeom>
          <a:noFill/>
          <a:ln>
            <a:noFill/>
          </a:ln>
        </p:spPr>
        <p:txBody>
          <a:bodyPr anchorCtr="0" anchor="t" bIns="34275" lIns="68575" spcFirstLastPara="1" rIns="68575" wrap="square" tIns="34275">
            <a:noAutofit/>
          </a:bodyPr>
          <a:lstStyle/>
          <a:p>
            <a:pPr indent="-342900" lvl="0" marL="457200" marR="0" rtl="0" algn="l">
              <a:lnSpc>
                <a:spcPct val="115000"/>
              </a:lnSpc>
              <a:spcBef>
                <a:spcPts val="400"/>
              </a:spcBef>
              <a:spcAft>
                <a:spcPts val="0"/>
              </a:spcAft>
              <a:buClr>
                <a:schemeClr val="dk1"/>
              </a:buClr>
              <a:buSzPts val="1800"/>
              <a:buChar char="●"/>
            </a:pPr>
            <a:r>
              <a:rPr b="1" lang="en-GB" sz="1700">
                <a:solidFill>
                  <a:schemeClr val="dk1"/>
                </a:solidFill>
                <a:latin typeface="Times New Roman"/>
                <a:ea typeface="Times New Roman"/>
                <a:cs typeface="Times New Roman"/>
                <a:sym typeface="Times New Roman"/>
              </a:rPr>
              <a:t>Elementor</a:t>
            </a:r>
            <a:r>
              <a:rPr lang="en-GB" sz="1700">
                <a:solidFill>
                  <a:schemeClr val="dk1"/>
                </a:solidFill>
                <a:latin typeface="Times New Roman"/>
                <a:ea typeface="Times New Roman"/>
                <a:cs typeface="Times New Roman"/>
                <a:sym typeface="Times New Roman"/>
              </a:rPr>
              <a:t> (Page Builder)</a:t>
            </a:r>
            <a:endParaRPr sz="1700">
              <a:solidFill>
                <a:schemeClr val="dk1"/>
              </a:solidFill>
              <a:latin typeface="Times New Roman"/>
              <a:ea typeface="Times New Roman"/>
              <a:cs typeface="Times New Roman"/>
              <a:sym typeface="Times New Roman"/>
            </a:endParaRPr>
          </a:p>
          <a:p>
            <a:pPr indent="-336550" lvl="0" marL="457200" marR="0" rtl="0" algn="l">
              <a:lnSpc>
                <a:spcPct val="115000"/>
              </a:lnSpc>
              <a:spcBef>
                <a:spcPts val="0"/>
              </a:spcBef>
              <a:spcAft>
                <a:spcPts val="0"/>
              </a:spcAft>
              <a:buClr>
                <a:schemeClr val="dk1"/>
              </a:buClr>
              <a:buSzPts val="1700"/>
              <a:buFont typeface="Times New Roman"/>
              <a:buChar char="●"/>
            </a:pPr>
            <a:r>
              <a:rPr b="1" lang="en-GB" sz="1700">
                <a:solidFill>
                  <a:schemeClr val="dk1"/>
                </a:solidFill>
                <a:latin typeface="Times New Roman"/>
                <a:ea typeface="Times New Roman"/>
                <a:cs typeface="Times New Roman"/>
                <a:sym typeface="Times New Roman"/>
              </a:rPr>
              <a:t>WPForms</a:t>
            </a:r>
            <a:r>
              <a:rPr lang="en-GB" sz="1700">
                <a:solidFill>
                  <a:schemeClr val="dk1"/>
                </a:solidFill>
                <a:latin typeface="Times New Roman"/>
                <a:ea typeface="Times New Roman"/>
                <a:cs typeface="Times New Roman"/>
                <a:sym typeface="Times New Roman"/>
              </a:rPr>
              <a:t>- Grant Writing</a:t>
            </a:r>
            <a:endParaRPr sz="1700">
              <a:solidFill>
                <a:schemeClr val="dk1"/>
              </a:solidFill>
              <a:latin typeface="Times New Roman"/>
              <a:ea typeface="Times New Roman"/>
              <a:cs typeface="Times New Roman"/>
              <a:sym typeface="Times New Roman"/>
            </a:endParaRPr>
          </a:p>
          <a:p>
            <a:pPr indent="-336550" lvl="0" marL="457200" marR="0" rtl="0" algn="l">
              <a:lnSpc>
                <a:spcPct val="115000"/>
              </a:lnSpc>
              <a:spcBef>
                <a:spcPts val="0"/>
              </a:spcBef>
              <a:spcAft>
                <a:spcPts val="0"/>
              </a:spcAft>
              <a:buClr>
                <a:schemeClr val="dk1"/>
              </a:buClr>
              <a:buSzPts val="1700"/>
              <a:buFont typeface="Times New Roman"/>
              <a:buChar char="●"/>
            </a:pPr>
            <a:r>
              <a:rPr b="1" lang="en-GB" sz="1700">
                <a:solidFill>
                  <a:schemeClr val="dk1"/>
                </a:solidFill>
                <a:latin typeface="Times New Roman"/>
                <a:ea typeface="Times New Roman"/>
                <a:cs typeface="Times New Roman"/>
                <a:sym typeface="Times New Roman"/>
              </a:rPr>
              <a:t>Duplicate Page - Used for ease of editing and maintaining consistent design. </a:t>
            </a:r>
            <a:endParaRPr b="1" sz="1700">
              <a:solidFill>
                <a:schemeClr val="dk1"/>
              </a:solidFill>
              <a:latin typeface="Times New Roman"/>
              <a:ea typeface="Times New Roman"/>
              <a:cs typeface="Times New Roman"/>
              <a:sym typeface="Times New Roman"/>
            </a:endParaRPr>
          </a:p>
          <a:p>
            <a:pPr indent="-336550" lvl="0" marL="457200" marR="0" rtl="0" algn="l">
              <a:lnSpc>
                <a:spcPct val="115000"/>
              </a:lnSpc>
              <a:spcBef>
                <a:spcPts val="0"/>
              </a:spcBef>
              <a:spcAft>
                <a:spcPts val="0"/>
              </a:spcAft>
              <a:buClr>
                <a:schemeClr val="dk1"/>
              </a:buClr>
              <a:buSzPts val="1700"/>
              <a:buFont typeface="Times New Roman"/>
              <a:buChar char="●"/>
            </a:pPr>
            <a:r>
              <a:rPr b="1" lang="en-GB" sz="1700">
                <a:solidFill>
                  <a:schemeClr val="dk1"/>
                </a:solidFill>
                <a:latin typeface="Times New Roman"/>
                <a:ea typeface="Times New Roman"/>
                <a:cs typeface="Times New Roman"/>
                <a:sym typeface="Times New Roman"/>
              </a:rPr>
              <a:t>Smart Slider 3- Used for carousel in home page </a:t>
            </a:r>
            <a:endParaRPr b="1" sz="1700">
              <a:solidFill>
                <a:schemeClr val="dk1"/>
              </a:solidFill>
              <a:latin typeface="Times New Roman"/>
              <a:ea typeface="Times New Roman"/>
              <a:cs typeface="Times New Roman"/>
              <a:sym typeface="Times New Roman"/>
            </a:endParaRPr>
          </a:p>
          <a:p>
            <a:pPr indent="-336550" lvl="0" marL="457200" marR="0" rtl="0" algn="l">
              <a:lnSpc>
                <a:spcPct val="115000"/>
              </a:lnSpc>
              <a:spcBef>
                <a:spcPts val="0"/>
              </a:spcBef>
              <a:spcAft>
                <a:spcPts val="0"/>
              </a:spcAft>
              <a:buClr>
                <a:schemeClr val="dk1"/>
              </a:buClr>
              <a:buSzPts val="1700"/>
              <a:buFont typeface="Times New Roman"/>
              <a:buChar char="●"/>
            </a:pPr>
            <a:r>
              <a:rPr b="1" lang="en-GB" sz="1700">
                <a:solidFill>
                  <a:schemeClr val="dk1"/>
                </a:solidFill>
                <a:latin typeface="Times New Roman"/>
                <a:ea typeface="Times New Roman"/>
                <a:cs typeface="Times New Roman"/>
                <a:sym typeface="Times New Roman"/>
              </a:rPr>
              <a:t>Export/Import - Used to migrate local WP site to group WP. </a:t>
            </a:r>
            <a:endParaRPr b="1" sz="1700">
              <a:solidFill>
                <a:schemeClr val="dk1"/>
              </a:solidFill>
              <a:latin typeface="Times New Roman"/>
              <a:ea typeface="Times New Roman"/>
              <a:cs typeface="Times New Roman"/>
              <a:sym typeface="Times New Roman"/>
            </a:endParaRPr>
          </a:p>
          <a:p>
            <a:pPr indent="-336550" lvl="0" marL="457200" marR="0" rtl="0" algn="l">
              <a:lnSpc>
                <a:spcPct val="115000"/>
              </a:lnSpc>
              <a:spcBef>
                <a:spcPts val="0"/>
              </a:spcBef>
              <a:spcAft>
                <a:spcPts val="0"/>
              </a:spcAft>
              <a:buClr>
                <a:schemeClr val="dk1"/>
              </a:buClr>
              <a:buSzPts val="1700"/>
              <a:buFont typeface="Times New Roman"/>
              <a:buChar char="●"/>
            </a:pPr>
            <a:r>
              <a:rPr b="1" lang="en-GB" sz="1700">
                <a:solidFill>
                  <a:schemeClr val="dk1"/>
                </a:solidFill>
                <a:latin typeface="Times New Roman"/>
                <a:ea typeface="Times New Roman"/>
                <a:cs typeface="Times New Roman"/>
                <a:sym typeface="Times New Roman"/>
              </a:rPr>
              <a:t>Template- “Hope” (Created by</a:t>
            </a:r>
            <a:r>
              <a:rPr b="1" lang="en-GB" sz="1700">
                <a:solidFill>
                  <a:schemeClr val="dk1"/>
                </a:solidFill>
                <a:highlight>
                  <a:schemeClr val="lt1"/>
                </a:highlight>
                <a:latin typeface="Times New Roman"/>
                <a:ea typeface="Times New Roman"/>
                <a:cs typeface="Times New Roman"/>
                <a:sym typeface="Times New Roman"/>
              </a:rPr>
              <a:t> Andrei Atudorei) </a:t>
            </a:r>
            <a:endParaRPr b="1" sz="17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GB" sz="1600">
                <a:solidFill>
                  <a:schemeClr val="dk1"/>
                </a:solidFill>
              </a:rPr>
              <a:t> Other Configuration Notes:</a:t>
            </a:r>
            <a:endParaRPr b="1"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GB" sz="1600">
                <a:solidFill>
                  <a:schemeClr val="dk1"/>
                </a:solidFill>
              </a:rPr>
              <a:t>Menus were customized to support </a:t>
            </a:r>
            <a:r>
              <a:rPr b="1" lang="en-GB" sz="1600">
                <a:solidFill>
                  <a:schemeClr val="dk1"/>
                </a:solidFill>
              </a:rPr>
              <a:t>nested dropdowns</a:t>
            </a:r>
            <a:r>
              <a:rPr lang="en-GB" sz="1600">
                <a:solidFill>
                  <a:schemeClr val="dk1"/>
                </a:solidFill>
              </a:rPr>
              <a:t> (e.g., under “Resources”).</a:t>
            </a:r>
            <a:br>
              <a:rPr lang="en-GB"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Custom CSS was used minimally to keep the site maintainable by non-technical users.</a:t>
            </a:r>
            <a:br>
              <a:rPr lang="en-GB" sz="1600">
                <a:solidFill>
                  <a:schemeClr val="dk1"/>
                </a:solidFill>
              </a:rPr>
            </a:br>
            <a:endParaRPr sz="16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600">
                <a:solidFill>
                  <a:schemeClr val="dk1"/>
                </a:solidFill>
              </a:rPr>
              <a:t>Font and color palettes were adjusted in line with SSCF’s </a:t>
            </a:r>
            <a:r>
              <a:rPr b="1" lang="en-GB" sz="1600">
                <a:solidFill>
                  <a:schemeClr val="dk1"/>
                </a:solidFill>
              </a:rPr>
              <a:t>branding guidelines</a:t>
            </a:r>
            <a:r>
              <a:rPr lang="en-GB" sz="1600">
                <a:solidFill>
                  <a:schemeClr val="dk1"/>
                </a:solidFill>
              </a:rPr>
              <a:t>.</a:t>
            </a:r>
            <a:br>
              <a:rPr lang="en-GB" sz="1100">
                <a:solidFill>
                  <a:schemeClr val="dk1"/>
                </a:solidFill>
              </a:rPr>
            </a:br>
            <a:endParaRPr sz="1100">
              <a:solidFill>
                <a:schemeClr val="dk1"/>
              </a:solidFill>
            </a:endParaRPr>
          </a:p>
          <a:p>
            <a:pPr indent="0" lvl="0" marL="0" marR="0" rtl="0" algn="l">
              <a:lnSpc>
                <a:spcPct val="200000"/>
              </a:lnSpc>
              <a:spcBef>
                <a:spcPts val="1200"/>
              </a:spcBef>
              <a:spcAft>
                <a:spcPts val="0"/>
              </a:spcAft>
              <a:buNone/>
            </a:pPr>
            <a:r>
              <a:t/>
            </a:r>
            <a:endParaRPr b="1" sz="1200">
              <a:solidFill>
                <a:schemeClr val="dk1"/>
              </a:solidFill>
              <a:latin typeface="Times New Roman"/>
              <a:ea typeface="Times New Roman"/>
              <a:cs typeface="Times New Roman"/>
              <a:sym typeface="Times New Roman"/>
            </a:endParaRPr>
          </a:p>
          <a:p>
            <a:pPr indent="0" lvl="0" marL="457200" marR="0" rtl="0" algn="l">
              <a:lnSpc>
                <a:spcPct val="200000"/>
              </a:lnSpc>
              <a:spcBef>
                <a:spcPts val="400"/>
              </a:spcBef>
              <a:spcAft>
                <a:spcPts val="0"/>
              </a:spcAft>
              <a:buNone/>
            </a:pPr>
            <a:r>
              <a:t/>
            </a:r>
            <a:endParaRPr b="1" sz="1100">
              <a:solidFill>
                <a:schemeClr val="dk1"/>
              </a:solidFill>
            </a:endParaRPr>
          </a:p>
          <a:p>
            <a:pPr indent="-139700" lvl="1" marL="342900" marR="0" rtl="0" algn="l">
              <a:lnSpc>
                <a:spcPct val="90000"/>
              </a:lnSpc>
              <a:spcBef>
                <a:spcPts val="400"/>
              </a:spcBef>
              <a:spcAft>
                <a:spcPts val="0"/>
              </a:spcAft>
              <a:buClr>
                <a:schemeClr val="dk1"/>
              </a:buClr>
              <a:buSzPts val="1800"/>
              <a:buFont typeface="Arial"/>
              <a:buNone/>
            </a:pPr>
            <a:r>
              <a:t/>
            </a:r>
            <a:endParaRPr b="0" i="0" sz="1800" u="none" cap="none" strike="noStrike">
              <a:solidFill>
                <a:schemeClr val="dk1"/>
              </a:solidFill>
              <a:latin typeface="Gill Sans"/>
              <a:ea typeface="Gill Sans"/>
              <a:cs typeface="Gill Sans"/>
              <a:sym typeface="Gill Sans"/>
            </a:endParaRPr>
          </a:p>
          <a:p>
            <a:pPr indent="-114300" lvl="1" marL="342900" marR="0" rtl="0" algn="l">
              <a:lnSpc>
                <a:spcPct val="90000"/>
              </a:lnSpc>
              <a:spcBef>
                <a:spcPts val="400"/>
              </a:spcBef>
              <a:spcAft>
                <a:spcPts val="0"/>
              </a:spcAft>
              <a:buClr>
                <a:schemeClr val="dk1"/>
              </a:buClr>
              <a:buSzPts val="2300"/>
              <a:buFont typeface="Arial"/>
              <a:buNone/>
            </a:pPr>
            <a:r>
              <a:t/>
            </a:r>
            <a:endParaRPr b="0" i="0" sz="2300" u="none" cap="none" strike="noStrike">
              <a:solidFill>
                <a:schemeClr val="dk1"/>
              </a:solidFill>
              <a:latin typeface="Gill Sans"/>
              <a:ea typeface="Gill Sans"/>
              <a:cs typeface="Gill Sans"/>
              <a:sym typeface="Gill Sans"/>
            </a:endParaRPr>
          </a:p>
          <a:p>
            <a:pPr indent="0" lvl="0" marL="0" marR="0" rtl="0" algn="l">
              <a:lnSpc>
                <a:spcPct val="100000"/>
              </a:lnSpc>
              <a:spcBef>
                <a:spcPts val="800"/>
              </a:spcBef>
              <a:spcAft>
                <a:spcPts val="0"/>
              </a:spcAft>
              <a:buClr>
                <a:srgbClr val="FFC629"/>
              </a:buClr>
              <a:buSzPts val="2000"/>
              <a:buFont typeface="Arial"/>
              <a:buNone/>
            </a:pPr>
            <a:r>
              <a:t/>
            </a:r>
            <a:endParaRPr b="0" i="0" sz="2000" u="none" cap="none" strike="noStrike">
              <a:solidFill>
                <a:schemeClr val="dk1"/>
              </a:solidFill>
              <a:latin typeface="Gill Sans"/>
              <a:ea typeface="Gill Sans"/>
              <a:cs typeface="Gill Sans"/>
              <a:sym typeface="Gill Sans"/>
            </a:endParaRPr>
          </a:p>
          <a:p>
            <a:pPr indent="-127000" lvl="0" marL="254000" marR="0" rtl="0" algn="l">
              <a:lnSpc>
                <a:spcPct val="100000"/>
              </a:lnSpc>
              <a:spcBef>
                <a:spcPts val="800"/>
              </a:spcBef>
              <a:spcAft>
                <a:spcPts val="0"/>
              </a:spcAft>
              <a:buClr>
                <a:srgbClr val="FFC629"/>
              </a:buClr>
              <a:buSzPts val="2000"/>
              <a:buFont typeface="Arial"/>
              <a:buNone/>
            </a:pPr>
            <a:r>
              <a:t/>
            </a:r>
            <a:endParaRPr b="0" i="0" sz="2000" u="none" cap="none" strike="noStrike">
              <a:solidFill>
                <a:schemeClr val="dk1"/>
              </a:solidFill>
              <a:latin typeface="Gill Sans"/>
              <a:ea typeface="Gill Sans"/>
              <a:cs typeface="Gill Sans"/>
              <a:sym typeface="Gill Sans"/>
            </a:endParaRPr>
          </a:p>
          <a:p>
            <a:pPr indent="-127000" lvl="0" marL="254000" marR="0" rtl="0" algn="l">
              <a:lnSpc>
                <a:spcPct val="100000"/>
              </a:lnSpc>
              <a:spcBef>
                <a:spcPts val="800"/>
              </a:spcBef>
              <a:spcAft>
                <a:spcPts val="0"/>
              </a:spcAft>
              <a:buClr>
                <a:srgbClr val="FFC629"/>
              </a:buClr>
              <a:buSzPts val="2000"/>
              <a:buFont typeface="Arial"/>
              <a:buNone/>
            </a:pPr>
            <a:r>
              <a:t/>
            </a:r>
            <a:endParaRPr b="0" i="0" sz="2000" u="none" cap="none" strike="noStrike">
              <a:solidFill>
                <a:schemeClr val="dk1"/>
              </a:solidFill>
              <a:latin typeface="Gill Sans"/>
              <a:ea typeface="Gill Sans"/>
              <a:cs typeface="Gill Sans"/>
              <a:sym typeface="Gill Sans"/>
            </a:endParaRPr>
          </a:p>
          <a:p>
            <a:pPr indent="-114300" lvl="0" marL="254000" marR="0" rtl="0" algn="l">
              <a:lnSpc>
                <a:spcPct val="100000"/>
              </a:lnSpc>
              <a:spcBef>
                <a:spcPts val="800"/>
              </a:spcBef>
              <a:spcAft>
                <a:spcPts val="0"/>
              </a:spcAft>
              <a:buClr>
                <a:srgbClr val="FFC629"/>
              </a:buClr>
              <a:buSzPts val="2100"/>
              <a:buFont typeface="Arial"/>
              <a:buNone/>
            </a:pPr>
            <a:r>
              <a:t/>
            </a:r>
            <a:endParaRPr b="0" i="0" sz="2100" u="none" cap="none" strike="noStrike">
              <a:solidFill>
                <a:schemeClr val="dk1"/>
              </a:solidFill>
              <a:latin typeface="Arial"/>
              <a:ea typeface="Arial"/>
              <a:cs typeface="Arial"/>
              <a:sym typeface="Arial"/>
            </a:endParaRPr>
          </a:p>
          <a:p>
            <a:pPr indent="-101600" lvl="0" marL="254000" marR="0" rtl="0" algn="l">
              <a:lnSpc>
                <a:spcPct val="100000"/>
              </a:lnSpc>
              <a:spcBef>
                <a:spcPts val="800"/>
              </a:spcBef>
              <a:spcAft>
                <a:spcPts val="0"/>
              </a:spcAft>
              <a:buClr>
                <a:srgbClr val="FFC629"/>
              </a:buClr>
              <a:buSzPts val="2400"/>
              <a:buFont typeface="Arial"/>
              <a:buNone/>
            </a:pPr>
            <a:r>
              <a:t/>
            </a:r>
            <a:endParaRPr b="0" i="0" sz="2400" u="none" cap="none" strike="noStrike">
              <a:solidFill>
                <a:schemeClr val="dk1"/>
              </a:solidFill>
              <a:latin typeface="Gill Sans"/>
              <a:ea typeface="Gill Sans"/>
              <a:cs typeface="Gill Sans"/>
              <a:sym typeface="Gill Sans"/>
            </a:endParaRPr>
          </a:p>
          <a:p>
            <a:pPr indent="-152400" lvl="0" marL="254000" marR="0" rtl="0" algn="l">
              <a:lnSpc>
                <a:spcPct val="90000"/>
              </a:lnSpc>
              <a:spcBef>
                <a:spcPts val="500"/>
              </a:spcBef>
              <a:spcAft>
                <a:spcPts val="0"/>
              </a:spcAft>
              <a:buClr>
                <a:srgbClr val="FFC629"/>
              </a:buClr>
              <a:buSzPts val="1500"/>
              <a:buFont typeface="Arial"/>
              <a:buNone/>
            </a:pPr>
            <a:r>
              <a:t/>
            </a:r>
            <a:endParaRPr b="0" i="0" sz="1800" u="none" cap="none" strike="noStrike">
              <a:solidFill>
                <a:srgbClr val="FF0000"/>
              </a:solidFill>
              <a:latin typeface="Gill Sans"/>
              <a:ea typeface="Gill Sans"/>
              <a:cs typeface="Gill Sans"/>
              <a:sym typeface="Gill Sans"/>
            </a:endParaRPr>
          </a:p>
          <a:p>
            <a:pPr indent="-279400" lvl="0" marL="381000" marR="0" rtl="0" algn="l">
              <a:lnSpc>
                <a:spcPct val="90000"/>
              </a:lnSpc>
              <a:spcBef>
                <a:spcPts val="500"/>
              </a:spcBef>
              <a:spcAft>
                <a:spcPts val="0"/>
              </a:spcAft>
              <a:buClr>
                <a:srgbClr val="FFC629"/>
              </a:buClr>
              <a:buSzPts val="1500"/>
              <a:buFont typeface="Calibri"/>
              <a:buNone/>
            </a:pPr>
            <a:r>
              <a:t/>
            </a:r>
            <a:endParaRPr b="0" i="0" sz="1800" u="none" cap="none" strike="noStrike">
              <a:solidFill>
                <a:schemeClr val="dk1"/>
              </a:solidFill>
              <a:latin typeface="Gill Sans"/>
              <a:ea typeface="Gill Sans"/>
              <a:cs typeface="Gill Sans"/>
              <a:sym typeface="Gill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idx="1" type="subTitle"/>
          </p:nvPr>
        </p:nvSpPr>
        <p:spPr>
          <a:xfrm>
            <a:off x="628650" y="1379575"/>
            <a:ext cx="7867800" cy="3150300"/>
          </a:xfrm>
          <a:prstGeom prst="rect">
            <a:avLst/>
          </a:prstGeom>
        </p:spPr>
        <p:txBody>
          <a:bodyPr anchorCtr="0" anchor="t" bIns="34275" lIns="68575" spcFirstLastPara="1" rIns="68575" wrap="square" tIns="34275">
            <a:normAutofit fontScale="25000" lnSpcReduction="20000"/>
          </a:bodyPr>
          <a:lstStyle/>
          <a:p>
            <a:pPr indent="0" lvl="0" marL="0" rtl="0" algn="l">
              <a:lnSpc>
                <a:spcPct val="115000"/>
              </a:lnSpc>
              <a:spcBef>
                <a:spcPts val="1400"/>
              </a:spcBef>
              <a:spcAft>
                <a:spcPts val="0"/>
              </a:spcAft>
              <a:buClr>
                <a:schemeClr val="dk1"/>
              </a:buClr>
              <a:buSzPts val="275"/>
              <a:buFont typeface="Arial"/>
              <a:buNone/>
            </a:pPr>
            <a:r>
              <a:rPr b="1" lang="en-GB" sz="4439"/>
              <a:t>Key Feedback from Final Check-Ins:</a:t>
            </a:r>
            <a:endParaRPr b="1" sz="4439"/>
          </a:p>
          <a:p>
            <a:pPr indent="-295903" lvl="0" marL="457200" rtl="0" algn="l">
              <a:lnSpc>
                <a:spcPct val="115000"/>
              </a:lnSpc>
              <a:spcBef>
                <a:spcPts val="1200"/>
              </a:spcBef>
              <a:spcAft>
                <a:spcPts val="0"/>
              </a:spcAft>
              <a:buClr>
                <a:schemeClr val="dk1"/>
              </a:buClr>
              <a:buSzPct val="100000"/>
              <a:buChar char="●"/>
            </a:pPr>
            <a:r>
              <a:rPr b="1" lang="en-GB" sz="4239"/>
              <a:t>"Follow set branding guidelines"</a:t>
            </a:r>
            <a:br>
              <a:rPr b="1" lang="en-GB" sz="4239"/>
            </a:br>
            <a:r>
              <a:rPr lang="en-GB" sz="4239"/>
              <a:t> 🔄 We aligned our color palette and typography with the SSCF brand guidelines to ensure consistency. </a:t>
            </a:r>
            <a:br>
              <a:rPr lang="en-GB" sz="4239"/>
            </a:br>
            <a:endParaRPr sz="4239"/>
          </a:p>
          <a:p>
            <a:pPr indent="-295903" lvl="0" marL="457200" rtl="0" algn="l">
              <a:lnSpc>
                <a:spcPct val="115000"/>
              </a:lnSpc>
              <a:spcBef>
                <a:spcPts val="0"/>
              </a:spcBef>
              <a:spcAft>
                <a:spcPts val="0"/>
              </a:spcAft>
              <a:buClr>
                <a:schemeClr val="dk1"/>
              </a:buClr>
              <a:buSzPct val="100000"/>
              <a:buChar char="●"/>
            </a:pPr>
            <a:r>
              <a:rPr b="1" lang="en-GB" sz="4239"/>
              <a:t>"Use more Saskatchewan-related images"</a:t>
            </a:r>
            <a:br>
              <a:rPr b="1" lang="en-GB" sz="4239"/>
            </a:br>
            <a:r>
              <a:rPr lang="en-GB" sz="4239"/>
              <a:t> 🖼️ We updated homepage visuals and section headers with locally relevant imagery to better reflect our geographic focus and target audience.</a:t>
            </a:r>
            <a:br>
              <a:rPr lang="en-GB" sz="4239"/>
            </a:br>
            <a:endParaRPr sz="4239"/>
          </a:p>
          <a:p>
            <a:pPr indent="-295903" lvl="0" marL="457200" rtl="0" algn="l">
              <a:lnSpc>
                <a:spcPct val="115000"/>
              </a:lnSpc>
              <a:spcBef>
                <a:spcPts val="0"/>
              </a:spcBef>
              <a:spcAft>
                <a:spcPts val="0"/>
              </a:spcAft>
              <a:buClr>
                <a:schemeClr val="dk1"/>
              </a:buClr>
              <a:buSzPct val="100000"/>
              <a:buChar char="●"/>
            </a:pPr>
            <a:r>
              <a:rPr b="1" lang="en-GB" sz="4239"/>
              <a:t>"Dial back on redundant images"</a:t>
            </a:r>
            <a:br>
              <a:rPr b="1" lang="en-GB" sz="4239"/>
            </a:br>
            <a:r>
              <a:rPr lang="en-GB" sz="4239"/>
              <a:t> ✅ We simplified layouts across pages, reducing visual clutter and ensuring that images serve clear communicative purposes.</a:t>
            </a:r>
            <a:endParaRPr sz="4239"/>
          </a:p>
          <a:p>
            <a:pPr indent="-295903" lvl="0" marL="457200" rtl="0" algn="l">
              <a:lnSpc>
                <a:spcPct val="115000"/>
              </a:lnSpc>
              <a:spcBef>
                <a:spcPts val="0"/>
              </a:spcBef>
              <a:spcAft>
                <a:spcPts val="0"/>
              </a:spcAft>
              <a:buClr>
                <a:schemeClr val="dk1"/>
              </a:buClr>
              <a:buSzPct val="100000"/>
              <a:buChar char="●"/>
            </a:pPr>
            <a:r>
              <a:rPr lang="en-GB" sz="4239"/>
              <a:t>.</a:t>
            </a:r>
            <a:r>
              <a:rPr b="1" lang="en-GB" sz="4239"/>
              <a:t>"Make the homepage more explanatory"</a:t>
            </a:r>
            <a:br>
              <a:rPr b="1" lang="en-GB" sz="4239"/>
            </a:br>
            <a:r>
              <a:rPr lang="en-GB" sz="4239"/>
              <a:t> 🏠 We restructured the homepage layout to clearly communicate the purpose of Charity Hub—serving both non-profits and everyday supporters—with an improved welcome message and CTA sections.</a:t>
            </a:r>
            <a:br>
              <a:rPr lang="en-GB" sz="4239"/>
            </a:br>
            <a:endParaRPr sz="4239"/>
          </a:p>
          <a:p>
            <a:pPr indent="-295903" lvl="0" marL="457200" rtl="0" algn="l">
              <a:lnSpc>
                <a:spcPct val="115000"/>
              </a:lnSpc>
              <a:spcBef>
                <a:spcPts val="0"/>
              </a:spcBef>
              <a:spcAft>
                <a:spcPts val="0"/>
              </a:spcAft>
              <a:buClr>
                <a:schemeClr val="dk1"/>
              </a:buClr>
              <a:buSzPct val="100000"/>
              <a:buChar char="●"/>
            </a:pPr>
            <a:r>
              <a:rPr b="1" lang="en-GB" sz="4239"/>
              <a:t>"Redirect Contact Us to the SSCF site"</a:t>
            </a:r>
            <a:br>
              <a:rPr b="1" lang="en-GB" sz="4239"/>
            </a:br>
            <a:r>
              <a:rPr lang="en-GB" sz="4239"/>
              <a:t> 🔗 The “Contact Us” link now directs users to the Saskatchewan Community Foundation’s official contact page, aligning with the site’s role as a resource hub rather than a direct contact point.</a:t>
            </a:r>
            <a:endParaRPr sz="4239"/>
          </a:p>
          <a:p>
            <a:pPr indent="0" lvl="0" marL="0" rtl="0" algn="l">
              <a:spcBef>
                <a:spcPts val="1200"/>
              </a:spcBef>
              <a:spcAft>
                <a:spcPts val="1200"/>
              </a:spcAft>
              <a:buNone/>
            </a:pPr>
            <a:r>
              <a:t/>
            </a:r>
            <a:endParaRPr/>
          </a:p>
        </p:txBody>
      </p:sp>
      <p:sp>
        <p:nvSpPr>
          <p:cNvPr id="118" name="Google Shape;118;p22"/>
          <p:cNvSpPr txBox="1"/>
          <p:nvPr>
            <p:ph idx="2" type="body"/>
          </p:nvPr>
        </p:nvSpPr>
        <p:spPr>
          <a:xfrm>
            <a:off x="628650" y="530107"/>
            <a:ext cx="8142000" cy="559800"/>
          </a:xfrm>
          <a:prstGeom prst="rect">
            <a:avLst/>
          </a:prstGeom>
        </p:spPr>
        <p:txBody>
          <a:bodyPr anchorCtr="0" anchor="t" bIns="34275" lIns="68575" spcFirstLastPara="1" rIns="68575" wrap="square" tIns="34275">
            <a:normAutofit fontScale="25000" lnSpcReduction="20000"/>
          </a:bodyPr>
          <a:lstStyle/>
          <a:p>
            <a:pPr indent="0" lvl="0" marL="0" rtl="0" algn="l">
              <a:spcBef>
                <a:spcPts val="800"/>
              </a:spcBef>
              <a:spcAft>
                <a:spcPts val="0"/>
              </a:spcAft>
              <a:buClr>
                <a:schemeClr val="dk1"/>
              </a:buClr>
              <a:buSzPts val="275"/>
              <a:buFont typeface="Arial"/>
              <a:buNone/>
            </a:pPr>
            <a:r>
              <a:rPr lang="en-GB" sz="9546"/>
              <a:t>Customer Notes</a:t>
            </a:r>
            <a:endParaRPr sz="9546"/>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