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  <p:sldMasterId id="2147483709" r:id="rId5"/>
  </p:sldMasterIdLst>
  <p:notesMasterIdLst>
    <p:notesMasterId r:id="rId19"/>
  </p:notesMasterIdLst>
  <p:handoutMasterIdLst>
    <p:handoutMasterId r:id="rId20"/>
  </p:handoutMasterIdLst>
  <p:sldIdLst>
    <p:sldId id="954" r:id="rId6"/>
    <p:sldId id="1131" r:id="rId7"/>
    <p:sldId id="1034" r:id="rId8"/>
    <p:sldId id="1127" r:id="rId9"/>
    <p:sldId id="1128" r:id="rId10"/>
    <p:sldId id="1120" r:id="rId11"/>
    <p:sldId id="1018" r:id="rId12"/>
    <p:sldId id="1132" r:id="rId13"/>
    <p:sldId id="1133" r:id="rId14"/>
    <p:sldId id="1098" r:id="rId15"/>
    <p:sldId id="1045" r:id="rId16"/>
    <p:sldId id="1100" r:id="rId17"/>
    <p:sldId id="1130" r:id="rId18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D"/>
    <a:srgbClr val="B7B7B7"/>
    <a:srgbClr val="F79C7B"/>
    <a:srgbClr val="37A96C"/>
    <a:srgbClr val="347E85"/>
    <a:srgbClr val="4D4D4C"/>
    <a:srgbClr val="E0B229"/>
    <a:srgbClr val="D4E041"/>
    <a:srgbClr val="E6E6E6"/>
    <a:srgbClr val="8EC6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82" autoAdjust="0"/>
    <p:restoredTop sz="73595" autoAdjust="0"/>
  </p:normalViewPr>
  <p:slideViewPr>
    <p:cSldViewPr snapToGrid="0">
      <p:cViewPr>
        <p:scale>
          <a:sx n="80" d="100"/>
          <a:sy n="80" d="100"/>
        </p:scale>
        <p:origin x="171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73" d="100"/>
          <a:sy n="73" d="100"/>
        </p:scale>
        <p:origin x="2938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E34158-09C6-4C9A-BD8B-C9886C054F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8475" cy="466725"/>
          </a:xfrm>
          <a:prstGeom prst="rect">
            <a:avLst/>
          </a:prstGeom>
        </p:spPr>
        <p:txBody>
          <a:bodyPr vert="horz" lIns="91428" tIns="45714" rIns="91428" bIns="45714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F9CDC9-B9A0-4DE3-9770-77E986D569F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9" y="0"/>
            <a:ext cx="3038475" cy="466725"/>
          </a:xfrm>
          <a:prstGeom prst="rect">
            <a:avLst/>
          </a:prstGeom>
        </p:spPr>
        <p:txBody>
          <a:bodyPr vert="horz" lIns="91428" tIns="45714" rIns="91428" bIns="45714" rtlCol="0"/>
          <a:lstStyle>
            <a:lvl1pPr algn="r">
              <a:defRPr sz="1200"/>
            </a:lvl1pPr>
          </a:lstStyle>
          <a:p>
            <a:fld id="{395727C9-EF7B-4603-A279-1FFD940A8A10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A11526-E79C-4E29-BDE2-AFAFC25B61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8829676"/>
            <a:ext cx="3038475" cy="466725"/>
          </a:xfrm>
          <a:prstGeom prst="rect">
            <a:avLst/>
          </a:prstGeom>
        </p:spPr>
        <p:txBody>
          <a:bodyPr vert="horz" lIns="91428" tIns="45714" rIns="91428" bIns="45714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6D9A5C-FFC1-4667-84AF-2C7E1D05C2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9" y="8829676"/>
            <a:ext cx="3038475" cy="466725"/>
          </a:xfrm>
          <a:prstGeom prst="rect">
            <a:avLst/>
          </a:prstGeom>
        </p:spPr>
        <p:txBody>
          <a:bodyPr vert="horz" lIns="91428" tIns="45714" rIns="91428" bIns="45714" rtlCol="0" anchor="b"/>
          <a:lstStyle>
            <a:lvl1pPr algn="r">
              <a:defRPr sz="1200"/>
            </a:lvl1pPr>
          </a:lstStyle>
          <a:p>
            <a:fld id="{3437D5FD-49A3-42AF-9B13-2BDB357FFF2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771109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66" tIns="46583" rIns="93166" bIns="4658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6434"/>
          </a:xfrm>
          <a:prstGeom prst="rect">
            <a:avLst/>
          </a:prstGeom>
        </p:spPr>
        <p:txBody>
          <a:bodyPr vert="horz" lIns="93166" tIns="46583" rIns="93166" bIns="46583" rtlCol="0"/>
          <a:lstStyle>
            <a:lvl1pPr algn="r">
              <a:defRPr sz="1200"/>
            </a:lvl1pPr>
          </a:lstStyle>
          <a:p>
            <a:fld id="{E0E56B68-833B-45DA-8062-AFB22C4EA22C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6" tIns="46583" rIns="93166" bIns="4658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</p:spPr>
        <p:txBody>
          <a:bodyPr vert="horz" lIns="93166" tIns="46583" rIns="93166" bIns="4658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3"/>
          </a:xfrm>
          <a:prstGeom prst="rect">
            <a:avLst/>
          </a:prstGeom>
        </p:spPr>
        <p:txBody>
          <a:bodyPr vert="horz" lIns="93166" tIns="46583" rIns="93166" bIns="4658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8"/>
            <a:ext cx="3037840" cy="466433"/>
          </a:xfrm>
          <a:prstGeom prst="rect">
            <a:avLst/>
          </a:prstGeom>
        </p:spPr>
        <p:txBody>
          <a:bodyPr vert="horz" lIns="93166" tIns="46583" rIns="93166" bIns="46583" rtlCol="0" anchor="b"/>
          <a:lstStyle>
            <a:lvl1pPr algn="r">
              <a:defRPr sz="1200"/>
            </a:lvl1pPr>
          </a:lstStyle>
          <a:p>
            <a:fld id="{4B406FEA-8BCC-45F6-8329-52E866314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606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B7BDA6C-6C45-F94F-8460-8D9EB13B63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857" indent="-285714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2857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599999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142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285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427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8570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5712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63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AF367F-A1FC-E244-AC1B-512D65FF1CD7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63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49250" name="Rectangle 2">
            <a:extLst>
              <a:ext uri="{FF2B5EF4-FFF2-40B4-BE49-F238E27FC236}">
                <a16:creationId xmlns:a16="http://schemas.microsoft.com/office/drawing/2014/main" id="{500427F0-B0AE-B04A-B2F6-C793916F80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49252" name="Rectangle 4">
            <a:extLst>
              <a:ext uri="{FF2B5EF4-FFF2-40B4-BE49-F238E27FC236}">
                <a16:creationId xmlns:a16="http://schemas.microsoft.com/office/drawing/2014/main" id="{6D9FCE4B-F182-F54A-8D12-8AD3571571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98645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B7309-1EA2-D633-A94F-10E859865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496A871-AE9B-DD8E-6516-FE02D29B70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857" indent="-285714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2857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599999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142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285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427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8570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5712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63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AF367F-A1FC-E244-AC1B-512D65FF1CD7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63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49250" name="Rectangle 2">
            <a:extLst>
              <a:ext uri="{FF2B5EF4-FFF2-40B4-BE49-F238E27FC236}">
                <a16:creationId xmlns:a16="http://schemas.microsoft.com/office/drawing/2014/main" id="{BE67457A-48D2-6607-E2A3-98867C2A58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49252" name="Rectangle 4">
            <a:extLst>
              <a:ext uri="{FF2B5EF4-FFF2-40B4-BE49-F238E27FC236}">
                <a16:creationId xmlns:a16="http://schemas.microsoft.com/office/drawing/2014/main" id="{251C6E45-9BF1-505D-C2D8-C76DBD3075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31993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9AFB5-36D7-1F0A-0A1A-D548631EF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A9C6AE3-C38A-644F-DD4C-DB7FF56632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857" indent="-285714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2857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599999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142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285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427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8570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5712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63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AF367F-A1FC-E244-AC1B-512D65FF1CD7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63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49250" name="Rectangle 2">
            <a:extLst>
              <a:ext uri="{FF2B5EF4-FFF2-40B4-BE49-F238E27FC236}">
                <a16:creationId xmlns:a16="http://schemas.microsoft.com/office/drawing/2014/main" id="{AD2AD06D-82D6-57DC-BCE9-C98CCCB983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49252" name="Rectangle 4">
            <a:extLst>
              <a:ext uri="{FF2B5EF4-FFF2-40B4-BE49-F238E27FC236}">
                <a16:creationId xmlns:a16="http://schemas.microsoft.com/office/drawing/2014/main" id="{B0947B9D-7D12-474C-5883-8BDE68E848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8345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1C4C2-FEF7-6C42-12C2-527C2C722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4241327-CC74-F020-A1A5-AB3F664F22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857" indent="-285714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2857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599999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142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285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427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8570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5712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63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AF367F-A1FC-E244-AC1B-512D65FF1CD7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63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49250" name="Rectangle 2">
            <a:extLst>
              <a:ext uri="{FF2B5EF4-FFF2-40B4-BE49-F238E27FC236}">
                <a16:creationId xmlns:a16="http://schemas.microsoft.com/office/drawing/2014/main" id="{FF91CF8F-D632-61D2-D23B-0094D76544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49252" name="Rectangle 4">
            <a:extLst>
              <a:ext uri="{FF2B5EF4-FFF2-40B4-BE49-F238E27FC236}">
                <a16:creationId xmlns:a16="http://schemas.microsoft.com/office/drawing/2014/main" id="{727DD1AA-3D36-2C64-8471-692FE051B9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5004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55CFC-73F9-B7E0-4CEE-D998915FC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D0A07CE-3930-6D57-B3BF-985AC97C97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857" indent="-285714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2857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599999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142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285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427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8570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5712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63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AF367F-A1FC-E244-AC1B-512D65FF1CD7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63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49250" name="Rectangle 2">
            <a:extLst>
              <a:ext uri="{FF2B5EF4-FFF2-40B4-BE49-F238E27FC236}">
                <a16:creationId xmlns:a16="http://schemas.microsoft.com/office/drawing/2014/main" id="{93260CC7-018C-67BB-60F9-F76740582D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49252" name="Rectangle 4">
            <a:extLst>
              <a:ext uri="{FF2B5EF4-FFF2-40B4-BE49-F238E27FC236}">
                <a16:creationId xmlns:a16="http://schemas.microsoft.com/office/drawing/2014/main" id="{CFCB76AC-CA9E-4396-6AD7-199FB4EBCA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849146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B7BDA6C-6C45-F94F-8460-8D9EB13B63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857" indent="-285714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2857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599999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142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285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427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8570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5712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63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AF367F-A1FC-E244-AC1B-512D65FF1CD7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63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49250" name="Rectangle 2">
            <a:extLst>
              <a:ext uri="{FF2B5EF4-FFF2-40B4-BE49-F238E27FC236}">
                <a16:creationId xmlns:a16="http://schemas.microsoft.com/office/drawing/2014/main" id="{500427F0-B0AE-B04A-B2F6-C793916F80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49252" name="Rectangle 4">
            <a:extLst>
              <a:ext uri="{FF2B5EF4-FFF2-40B4-BE49-F238E27FC236}">
                <a16:creationId xmlns:a16="http://schemas.microsoft.com/office/drawing/2014/main" id="{6D9FCE4B-F182-F54A-8D12-8AD3571571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66927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B7BDA6C-6C45-F94F-8460-8D9EB13B63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857" indent="-285714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2857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599999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142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285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427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8570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5712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63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AF367F-A1FC-E244-AC1B-512D65FF1CD7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63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49250" name="Rectangle 2">
            <a:extLst>
              <a:ext uri="{FF2B5EF4-FFF2-40B4-BE49-F238E27FC236}">
                <a16:creationId xmlns:a16="http://schemas.microsoft.com/office/drawing/2014/main" id="{500427F0-B0AE-B04A-B2F6-C793916F80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49252" name="Rectangle 4">
            <a:extLst>
              <a:ext uri="{FF2B5EF4-FFF2-40B4-BE49-F238E27FC236}">
                <a16:creationId xmlns:a16="http://schemas.microsoft.com/office/drawing/2014/main" id="{6D9FCE4B-F182-F54A-8D12-8AD3571571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30237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2BE33-2A6D-7212-9D50-D3A10BF43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9E650C1-A171-1962-1603-CD055A6189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857" indent="-285714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2857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599999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142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285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427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8570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5712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63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AF367F-A1FC-E244-AC1B-512D65FF1CD7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63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49250" name="Rectangle 2">
            <a:extLst>
              <a:ext uri="{FF2B5EF4-FFF2-40B4-BE49-F238E27FC236}">
                <a16:creationId xmlns:a16="http://schemas.microsoft.com/office/drawing/2014/main" id="{C1337E6D-1918-5382-AE39-9DA02D726A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49252" name="Rectangle 4">
            <a:extLst>
              <a:ext uri="{FF2B5EF4-FFF2-40B4-BE49-F238E27FC236}">
                <a16:creationId xmlns:a16="http://schemas.microsoft.com/office/drawing/2014/main" id="{27EDDD68-9C7C-A072-28B6-6AE415930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459152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E19F3-71FD-29B9-8B55-1DE97F1B6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62059FC-A3CF-E8C2-5D6E-193C0839CD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857" indent="-285714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2857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599999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142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285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427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8570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5712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63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AF367F-A1FC-E244-AC1B-512D65FF1CD7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63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49250" name="Rectangle 2">
            <a:extLst>
              <a:ext uri="{FF2B5EF4-FFF2-40B4-BE49-F238E27FC236}">
                <a16:creationId xmlns:a16="http://schemas.microsoft.com/office/drawing/2014/main" id="{2F68F82B-6756-4A7F-101F-11223A6632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49252" name="Rectangle 4">
            <a:extLst>
              <a:ext uri="{FF2B5EF4-FFF2-40B4-BE49-F238E27FC236}">
                <a16:creationId xmlns:a16="http://schemas.microsoft.com/office/drawing/2014/main" id="{B9FC6929-577A-4462-E0B2-422C7A8E49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861923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B7BDA6C-6C45-F94F-8460-8D9EB13B63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857" indent="-285714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2857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599999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142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285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427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8570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5712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63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AF367F-A1FC-E244-AC1B-512D65FF1CD7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63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49250" name="Rectangle 2">
            <a:extLst>
              <a:ext uri="{FF2B5EF4-FFF2-40B4-BE49-F238E27FC236}">
                <a16:creationId xmlns:a16="http://schemas.microsoft.com/office/drawing/2014/main" id="{500427F0-B0AE-B04A-B2F6-C793916F80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49252" name="Rectangle 4">
            <a:extLst>
              <a:ext uri="{FF2B5EF4-FFF2-40B4-BE49-F238E27FC236}">
                <a16:creationId xmlns:a16="http://schemas.microsoft.com/office/drawing/2014/main" id="{6D9FCE4B-F182-F54A-8D12-8AD3571571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0482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B7BDA6C-6C45-F94F-8460-8D9EB13B63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857" indent="-285714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2857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599999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142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285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427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8570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5712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63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AF367F-A1FC-E244-AC1B-512D65FF1CD7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63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49250" name="Rectangle 2">
            <a:extLst>
              <a:ext uri="{FF2B5EF4-FFF2-40B4-BE49-F238E27FC236}">
                <a16:creationId xmlns:a16="http://schemas.microsoft.com/office/drawing/2014/main" id="{500427F0-B0AE-B04A-B2F6-C793916F80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49252" name="Rectangle 4">
            <a:extLst>
              <a:ext uri="{FF2B5EF4-FFF2-40B4-BE49-F238E27FC236}">
                <a16:creationId xmlns:a16="http://schemas.microsoft.com/office/drawing/2014/main" id="{6D9FCE4B-F182-F54A-8D12-8AD3571571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Calibri"/>
              </a:rPr>
              <a:t>For more information about this fund, please visit: https://sscf.ca/funds/anne-luke-legacy-fund/</a:t>
            </a:r>
          </a:p>
        </p:txBody>
      </p:sp>
    </p:spTree>
    <p:extLst>
      <p:ext uri="{BB962C8B-B14F-4D97-AF65-F5344CB8AC3E}">
        <p14:creationId xmlns:p14="http://schemas.microsoft.com/office/powerpoint/2010/main" val="30841345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B7BDA6C-6C45-F94F-8460-8D9EB13B63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857" indent="-285714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2857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599999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142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285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427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8570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5712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63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AF367F-A1FC-E244-AC1B-512D65FF1CD7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63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49250" name="Rectangle 2">
            <a:extLst>
              <a:ext uri="{FF2B5EF4-FFF2-40B4-BE49-F238E27FC236}">
                <a16:creationId xmlns:a16="http://schemas.microsoft.com/office/drawing/2014/main" id="{500427F0-B0AE-B04A-B2F6-C793916F80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49252" name="Rectangle 4">
            <a:extLst>
              <a:ext uri="{FF2B5EF4-FFF2-40B4-BE49-F238E27FC236}">
                <a16:creationId xmlns:a16="http://schemas.microsoft.com/office/drawing/2014/main" id="{6D9FCE4B-F182-F54A-8D12-8AD3571571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720148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34DF6-F478-A75D-344F-DDDCFDAA9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2EB0DD3-D4AE-1502-BF8C-C5555FCF7D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857" indent="-285714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2857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599999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142" indent="-228571" defTabSz="963492"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285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427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8570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5712" indent="-228571" defTabSz="963492" eaLnBrk="0" fontAlgn="base" hangingPunct="0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63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AF367F-A1FC-E244-AC1B-512D65FF1CD7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63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49250" name="Rectangle 2">
            <a:extLst>
              <a:ext uri="{FF2B5EF4-FFF2-40B4-BE49-F238E27FC236}">
                <a16:creationId xmlns:a16="http://schemas.microsoft.com/office/drawing/2014/main" id="{722C1438-6392-9B09-7AFD-7B085B9658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49252" name="Rectangle 4">
            <a:extLst>
              <a:ext uri="{FF2B5EF4-FFF2-40B4-BE49-F238E27FC236}">
                <a16:creationId xmlns:a16="http://schemas.microsoft.com/office/drawing/2014/main" id="{FC5C8BF7-CB5E-C832-3E90-79A7FAA666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3435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978ED-3336-40AD-BBBE-B304AF87A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6BD2D6-F699-43C9-91E8-41EBD60551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94660-F9B6-43C1-9EE2-20E95D648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ADF8-30B5-42E4-80CD-65EADA00924B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8BF10-18A6-437F-83E5-3C329C921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69A00-091E-42E2-B694-AF4EF9ACE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FB3B1-2C44-4340-8EB4-EDCBF64B61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2110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411BB-4386-4BBB-9FD9-BB169EF4E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3BB6A-A6D9-4C57-B31A-1DAF33B99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13CC1-29C8-4BEC-A209-44E2AE5FB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ADF8-30B5-42E4-80CD-65EADA00924B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BCF06-F238-4D01-90F0-C4692245C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8B020-6934-4379-8495-6D6EEAE7C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FB3B1-2C44-4340-8EB4-EDCBF64B61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0832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8F4D3-A935-4527-B762-FB0C06471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33843-7E5D-45C1-96F1-AD4E59CCB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7E8C8-4042-4D0A-98FC-37E7D4B81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ADF8-30B5-42E4-80CD-65EADA00924B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23960-C27C-4052-8CA6-4403B2978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3FCDA-75E5-4813-85E5-E24243445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FB3B1-2C44-4340-8EB4-EDCBF64B61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489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F252B-3251-4CBE-B16D-645AC22EA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EDDFA-1F93-4180-93A5-53874BDA1B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DDB56-4395-4998-8D13-1C3C65E131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A9036-B041-4663-BF4D-C3DDD1C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ADF8-30B5-42E4-80CD-65EADA00924B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5C061-4715-4D5D-90AA-0FE3281C9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30739-8B98-4756-ADFD-6A5832F47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FB3B1-2C44-4340-8EB4-EDCBF64B61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2201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A6231-E251-40F0-8FE7-C5DBA4362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8AE73-6F0A-471D-BE8A-E6A3BB550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B90F3-7B26-4ECC-977C-5799B314E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DC414B-2229-4625-8691-75D7CE1851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9CEA3A-08F7-4DA2-A1D0-9ADA7450A2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6C94F5-0511-49EB-BAEE-4D291DAAE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ADF8-30B5-42E4-80CD-65EADA00924B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161B44-822B-48AD-9D22-13F1823A7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C0EB4B-A6EB-44F6-93DD-70B81E115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FB3B1-2C44-4340-8EB4-EDCBF64B61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686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EA4E7-6E22-4168-A2ED-F5F34E4E6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6A26DA-5537-4575-AD20-8780DA7E9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ADF8-30B5-42E4-80CD-65EADA00924B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498D7-25B0-45B1-BCD2-66682D286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EEB68-A8A3-400E-A97A-E550FE3DF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FB3B1-2C44-4340-8EB4-EDCBF64B61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7887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408830-0DEA-423C-8988-E7BD339DE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ADF8-30B5-42E4-80CD-65EADA00924B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BF3D49-D376-432F-A291-B7444A8B3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55B23-0BAB-440C-B199-04A9D6B50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FB3B1-2C44-4340-8EB4-EDCBF64B61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7483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947F9-CA5C-41A1-9E54-527F464F9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47396-8462-464C-8878-7A58D31CF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39257C-898B-491E-A867-E4A9B9F9D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98B99-0E92-4EBE-8EF9-7CE8220C8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ADF8-30B5-42E4-80CD-65EADA00924B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A90C1-06BB-486F-9146-2837F3CAF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8228B-04CA-4306-8ECB-C224A978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FB3B1-2C44-4340-8EB4-EDCBF64B61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4324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0C4FE-921D-4720-9765-2133BB65D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CEC513-E140-43B0-80E2-989F571E1A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75104D-D498-47F5-8C6F-9BDB1C427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26CF0-7AE5-4523-A99F-92FD6C7A0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ADF8-30B5-42E4-80CD-65EADA00924B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3174D-6C91-4F24-B3C4-1A8572E37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F71D1-FDED-4300-A9AF-E2F493B0E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FB3B1-2C44-4340-8EB4-EDCBF64B61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7240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56ED1-36B5-4723-988E-D1FBA497D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659791-C50D-4B87-91F9-DB3FA3C2D4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76E92-84B3-4942-9F41-B1693EA6C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ADF8-30B5-42E4-80CD-65EADA00924B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21EAC-434D-4B3C-91DF-6A7990F61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82A8A-BD43-42E3-B33F-537D2A373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FB3B1-2C44-4340-8EB4-EDCBF64B61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2958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6426FC-58E6-49FD-B62E-DB5679DEC5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69C197-2FA7-4E9C-829F-F14A499751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69618-3450-48E2-9C87-867E3F294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ADF8-30B5-42E4-80CD-65EADA00924B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E8F60-65F0-4186-AC6B-BB84E6CCF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E4957-D0ED-4879-9623-C5824D98F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FB3B1-2C44-4340-8EB4-EDCBF64B61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69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208333-AA52-4A32-A732-A5AC1368424F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4/11/2025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A18FFA-D097-4325-B6A5-02616B0A32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7CB81C5-6299-435C-ADFC-BE5487989F2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7863" y="6858000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561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978ED-3336-40AD-BBBE-B304AF87A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6BD2D6-F699-43C9-91E8-41EBD60551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94660-F9B6-43C1-9EE2-20E95D648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ADF8-30B5-42E4-80CD-65EADA00924B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8BF10-18A6-437F-83E5-3C329C921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69A00-091E-42E2-B694-AF4EF9ACE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FB3B1-2C44-4340-8EB4-EDCBF64B61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6796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411BB-4386-4BBB-9FD9-BB169EF4E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3BB6A-A6D9-4C57-B31A-1DAF33B99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13CC1-29C8-4BEC-A209-44E2AE5FB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ADF8-30B5-42E4-80CD-65EADA00924B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BCF06-F238-4D01-90F0-C4692245C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8B020-6934-4379-8495-6D6EEAE7C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FB3B1-2C44-4340-8EB4-EDCBF64B61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2809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8F4D3-A935-4527-B762-FB0C06471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33843-7E5D-45C1-96F1-AD4E59CCB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7E8C8-4042-4D0A-98FC-37E7D4B81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ADF8-30B5-42E4-80CD-65EADA00924B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23960-C27C-4052-8CA6-4403B2978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3FCDA-75E5-4813-85E5-E24243445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FB3B1-2C44-4340-8EB4-EDCBF64B61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592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F252B-3251-4CBE-B16D-645AC22EA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EDDFA-1F93-4180-93A5-53874BDA1B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DDB56-4395-4998-8D13-1C3C65E131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A9036-B041-4663-BF4D-C3DDD1C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ADF8-30B5-42E4-80CD-65EADA00924B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5C061-4715-4D5D-90AA-0FE3281C9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30739-8B98-4756-ADFD-6A5832F47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FB3B1-2C44-4340-8EB4-EDCBF64B61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2052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A6231-E251-40F0-8FE7-C5DBA4362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8AE73-6F0A-471D-BE8A-E6A3BB550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B90F3-7B26-4ECC-977C-5799B314E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DC414B-2229-4625-8691-75D7CE1851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9CEA3A-08F7-4DA2-A1D0-9ADA7450A2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6C94F5-0511-49EB-BAEE-4D291DAAE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ADF8-30B5-42E4-80CD-65EADA00924B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161B44-822B-48AD-9D22-13F1823A7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C0EB4B-A6EB-44F6-93DD-70B81E115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FB3B1-2C44-4340-8EB4-EDCBF64B61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2404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EA4E7-6E22-4168-A2ED-F5F34E4E6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6A26DA-5537-4575-AD20-8780DA7E9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ADF8-30B5-42E4-80CD-65EADA00924B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498D7-25B0-45B1-BCD2-66682D286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EEB68-A8A3-400E-A97A-E550FE3DF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FB3B1-2C44-4340-8EB4-EDCBF64B61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3956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408830-0DEA-423C-8988-E7BD339DE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ADF8-30B5-42E4-80CD-65EADA00924B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BF3D49-D376-432F-A291-B7444A8B3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55B23-0BAB-440C-B199-04A9D6B50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FB3B1-2C44-4340-8EB4-EDCBF64B61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2969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947F9-CA5C-41A1-9E54-527F464F9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47396-8462-464C-8878-7A58D31CF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39257C-898B-491E-A867-E4A9B9F9D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98B99-0E92-4EBE-8EF9-7CE8220C8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ADF8-30B5-42E4-80CD-65EADA00924B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A90C1-06BB-486F-9146-2837F3CAF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8228B-04CA-4306-8ECB-C224A978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FB3B1-2C44-4340-8EB4-EDCBF64B61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6667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0C4FE-921D-4720-9765-2133BB65D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CEC513-E140-43B0-80E2-989F571E1A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75104D-D498-47F5-8C6F-9BDB1C427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26CF0-7AE5-4523-A99F-92FD6C7A0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ADF8-30B5-42E4-80CD-65EADA00924B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3174D-6C91-4F24-B3C4-1A8572E37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F71D1-FDED-4300-A9AF-E2F493B0E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FB3B1-2C44-4340-8EB4-EDCBF64B61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9046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56ED1-36B5-4723-988E-D1FBA497D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659791-C50D-4B87-91F9-DB3FA3C2D4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76E92-84B3-4942-9F41-B1693EA6C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ADF8-30B5-42E4-80CD-65EADA00924B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21EAC-434D-4B3C-91DF-6A7990F61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82A8A-BD43-42E3-B33F-537D2A373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FB3B1-2C44-4340-8EB4-EDCBF64B61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1762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6426FC-58E6-49FD-B62E-DB5679DEC5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69C197-2FA7-4E9C-829F-F14A499751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69618-3450-48E2-9C87-867E3F294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9ADF8-30B5-42E4-80CD-65EADA00924B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E8F60-65F0-4186-AC6B-BB84E6CCF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E4957-D0ED-4879-9623-C5824D98F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FB3B1-2C44-4340-8EB4-EDCBF64B61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7717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8333-AA52-4A32-A732-A5AC1368424F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8FFA-D097-4325-B6A5-02616B0A32B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7CB81C5-6299-435C-ADFC-BE5487989F2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7863" y="6858000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0508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8333-AA52-4A32-A732-A5AC1368424F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8FFA-D097-4325-B6A5-02616B0A32B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7CB81C5-6299-435C-ADFC-BE5487989F2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7863" y="6858000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0908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8333-AA52-4A32-A732-A5AC1368424F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8FFA-D097-4325-B6A5-02616B0A32B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7CB81C5-6299-435C-ADFC-BE5487989F2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7863" y="6858000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025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37667B-9A50-47FB-8E06-8E432CAAB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82A0B-0AE5-4470-B6D4-D1549FF96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F7019-89DA-40B4-B88C-A5CC29F102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9ADF8-30B5-42E4-80CD-65EADA00924B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1A3B9-1D7F-4CDB-9D77-F388264297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A0D6F-92BE-43E1-A2B2-013F2D38C5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FB3B1-2C44-4340-8EB4-EDCBF64B61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2454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725" r:id="rId12"/>
  </p:sldLayoutIdLst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37667B-9A50-47FB-8E06-8E432CAAB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82A0B-0AE5-4470-B6D4-D1549FF96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F7019-89DA-40B4-B88C-A5CC29F102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9ADF8-30B5-42E4-80CD-65EADA00924B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1A3B9-1D7F-4CDB-9D77-F388264297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A0D6F-92BE-43E1-A2B2-013F2D38C5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FB3B1-2C44-4340-8EB4-EDCBF64B61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3946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3" r:id="rId13"/>
    <p:sldLayoutId id="2147483724" r:id="rId14"/>
  </p:sldLayoutIdLst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.png"/><Relationship Id="rId4" Type="http://schemas.openxmlformats.org/officeDocument/2006/relationships/hyperlink" Target="https://sscf.ca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5DBEC3C0-E73A-4837-AEEC-96C84D8E4298}"/>
              </a:ext>
            </a:extLst>
          </p:cNvPr>
          <p:cNvSpPr txBox="1">
            <a:spLocks/>
          </p:cNvSpPr>
          <p:nvPr/>
        </p:nvSpPr>
        <p:spPr>
          <a:xfrm>
            <a:off x="758204" y="876569"/>
            <a:ext cx="10675592" cy="22599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  <a:t>PRESENTATION OUTLINE FOR GROUP D </a:t>
            </a: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  <a:t>ENSE 271 PROJECT </a:t>
            </a:r>
            <a:br>
              <a:rPr kumimoji="0" lang="en-US" sz="54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</a:br>
            <a:endParaRPr kumimoji="0" lang="en-US" sz="24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j-ea"/>
              <a:cs typeface="+mj-cs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  <a:t>A COLLABORATION WITH </a:t>
            </a:r>
            <a:r>
              <a:rPr lang="en-US" sz="2800" b="1" i="0" u="none" strike="noStrike" dirty="0">
                <a:solidFill>
                  <a:srgbClr val="FFC000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SOUTH SASKATCHEWAN COMMUNITY FOUNDATION (SSCF)</a:t>
            </a:r>
            <a:endParaRPr kumimoji="0" lang="en-US" sz="2800" b="1" i="1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Georgia"/>
              <a:ea typeface="+mj-ea"/>
              <a:cs typeface="+mj-cs"/>
            </a:endParaRP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D8DE4117-D03E-472D-988C-680F8BC01EF5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5442" y="3721510"/>
            <a:ext cx="1407208" cy="26475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323789-5250-5760-4109-7DBD0C8FC0B1}"/>
              </a:ext>
            </a:extLst>
          </p:cNvPr>
          <p:cNvSpPr txBox="1">
            <a:spLocks/>
          </p:cNvSpPr>
          <p:nvPr/>
        </p:nvSpPr>
        <p:spPr>
          <a:xfrm>
            <a:off x="627573" y="4386576"/>
            <a:ext cx="7736867" cy="13590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Arial" panose="020B0604020202020204" pitchFamily="34" charset="0"/>
              </a:rPr>
              <a:t>Course Introduction</a:t>
            </a: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Arial" panose="020B0604020202020204" pitchFamily="34" charset="0"/>
              </a:rPr>
              <a:t>ENSE 271: ACTIVITY 4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F98C691-BAC6-92BE-C833-0AAD5808DBFD}"/>
              </a:ext>
            </a:extLst>
          </p:cNvPr>
          <p:cNvSpPr txBox="1">
            <a:spLocks/>
          </p:cNvSpPr>
          <p:nvPr/>
        </p:nvSpPr>
        <p:spPr>
          <a:xfrm>
            <a:off x="659350" y="5981431"/>
            <a:ext cx="5337796" cy="57741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April 08,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Arial" panose="020B0604020202020204" pitchFamily="34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1606026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A3775D-04A6-A40C-91C1-CC71FFBC8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6EFAE105-00DE-AE82-051B-62EF74A6C146}"/>
              </a:ext>
            </a:extLst>
          </p:cNvPr>
          <p:cNvSpPr txBox="1">
            <a:spLocks/>
          </p:cNvSpPr>
          <p:nvPr/>
        </p:nvSpPr>
        <p:spPr>
          <a:xfrm>
            <a:off x="659730" y="581829"/>
            <a:ext cx="10675592" cy="22599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  <a:t>PROJECT SPONSOR : 	</a:t>
            </a:r>
            <a:r>
              <a:rPr lang="en-US" sz="2800" b="1" dirty="0">
                <a:solidFill>
                  <a:prstClr val="white"/>
                </a:solidFill>
                <a:latin typeface="Georgia"/>
              </a:rPr>
              <a:t>DR TIM MACIAG </a:t>
            </a:r>
            <a:br>
              <a:rPr lang="en-US" sz="2800" b="1" dirty="0">
                <a:solidFill>
                  <a:prstClr val="white"/>
                </a:solidFill>
                <a:latin typeface="Georgia"/>
              </a:rPr>
            </a:br>
            <a:r>
              <a:rPr lang="en-US" sz="2800" b="1" dirty="0">
                <a:solidFill>
                  <a:prstClr val="white"/>
                </a:solidFill>
                <a:latin typeface="Georgia"/>
              </a:rPr>
              <a:t>ENSE </a:t>
            </a: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  <a:t>271 PROFESSOR  </a:t>
            </a:r>
            <a:b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</a:br>
            <a:endParaRPr kumimoji="0" lang="en-US" sz="11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j-ea"/>
              <a:cs typeface="+mj-cs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  <a:t>TEAM NAMES &amp; MEMBERS:</a:t>
            </a: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FFC000"/>
                </a:solidFill>
                <a:latin typeface="Georgia"/>
              </a:rPr>
              <a:t>GROUP D</a:t>
            </a: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  <a:t> </a:t>
            </a:r>
          </a:p>
          <a:p>
            <a:pPr marL="514350" marR="0" lvl="0" indent="-514350" algn="ctr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  <a:t>Marc </a:t>
            </a:r>
            <a:r>
              <a:rPr kumimoji="0" lang="en-US" sz="2800" b="1" i="1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  <a:t>Aplaon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  <a:t> </a:t>
            </a:r>
          </a:p>
          <a:p>
            <a:pPr marL="514350" marR="0" lvl="0" indent="-514350" algn="ctr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  <a:t>Maheen  Siddique</a:t>
            </a:r>
          </a:p>
          <a:p>
            <a:pPr marL="514350" marR="0" lvl="0" indent="-514350" algn="ctr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2800" b="1" i="1" dirty="0">
                <a:solidFill>
                  <a:srgbClr val="FFC000"/>
                </a:solidFill>
                <a:latin typeface="Georgia"/>
              </a:rPr>
              <a:t>Adai Yisah </a:t>
            </a:r>
            <a:endParaRPr kumimoji="0" lang="en-US" sz="2800" b="1" i="1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Georgia"/>
              <a:ea typeface="+mj-ea"/>
              <a:cs typeface="+mj-cs"/>
            </a:endParaRP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912598B4-36F0-C8B5-0B27-5B903205C68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5442" y="3721510"/>
            <a:ext cx="1407208" cy="26475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6B9AB8-9DAC-FF12-5524-08DFFB57DDC9}"/>
              </a:ext>
            </a:extLst>
          </p:cNvPr>
          <p:cNvSpPr txBox="1">
            <a:spLocks/>
          </p:cNvSpPr>
          <p:nvPr/>
        </p:nvSpPr>
        <p:spPr>
          <a:xfrm>
            <a:off x="4499181" y="3636828"/>
            <a:ext cx="4447347" cy="13590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Arial" panose="020B0604020202020204" pitchFamily="34" charset="0"/>
              </a:rPr>
              <a:t>Course Introduction</a:t>
            </a: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Arial" panose="020B0604020202020204" pitchFamily="34" charset="0"/>
              </a:rPr>
              <a:t>ENSE 271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B2F5F2A-FA39-2FAD-5A68-B1A6B3C89EC7}"/>
              </a:ext>
            </a:extLst>
          </p:cNvPr>
          <p:cNvSpPr txBox="1">
            <a:spLocks/>
          </p:cNvSpPr>
          <p:nvPr/>
        </p:nvSpPr>
        <p:spPr>
          <a:xfrm>
            <a:off x="4738590" y="4995911"/>
            <a:ext cx="3328450" cy="57741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April 08,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Arial" panose="020B0604020202020204" pitchFamily="34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750628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A31677-B60D-3C1A-0EF2-92FFD1C12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Diagonal Corner Rectangle 1">
            <a:extLst>
              <a:ext uri="{FF2B5EF4-FFF2-40B4-BE49-F238E27FC236}">
                <a16:creationId xmlns:a16="http://schemas.microsoft.com/office/drawing/2014/main" id="{18D7D1E3-5378-705D-12B5-47874F5031BB}"/>
              </a:ext>
            </a:extLst>
          </p:cNvPr>
          <p:cNvSpPr/>
          <p:nvPr/>
        </p:nvSpPr>
        <p:spPr>
          <a:xfrm>
            <a:off x="305736" y="356508"/>
            <a:ext cx="10195958" cy="6210300"/>
          </a:xfrm>
          <a:prstGeom prst="round2DiagRect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AFBBB3A-4AC9-45D0-EF54-93A1D80D6763}"/>
              </a:ext>
            </a:extLst>
          </p:cNvPr>
          <p:cNvSpPr txBox="1">
            <a:spLocks/>
          </p:cNvSpPr>
          <p:nvPr/>
        </p:nvSpPr>
        <p:spPr>
          <a:xfrm>
            <a:off x="2098267" y="737381"/>
            <a:ext cx="5899395" cy="6752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>
                <a:solidFill>
                  <a:srgbClr val="4C4C4D"/>
                </a:solidFill>
                <a:latin typeface="Georgia"/>
              </a:rPr>
              <a:t>PROJECT OVERVIEW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4C4C4D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</a:endParaRP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851DA3BA-506F-B16B-36AA-5566842E136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725" y="4688763"/>
            <a:ext cx="980858" cy="184538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D487F69-0F74-748F-483D-779FF3E3F146}"/>
              </a:ext>
            </a:extLst>
          </p:cNvPr>
          <p:cNvSpPr txBox="1">
            <a:spLocks/>
          </p:cNvSpPr>
          <p:nvPr/>
        </p:nvSpPr>
        <p:spPr>
          <a:xfrm>
            <a:off x="912236" y="1412584"/>
            <a:ext cx="8577753" cy="48893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CA" sz="2800" b="1" i="0" dirty="0">
                <a:solidFill>
                  <a:srgbClr val="404040"/>
                </a:solidFill>
                <a:effectLst/>
                <a:latin typeface="Inter"/>
              </a:rPr>
              <a:t>Objective</a:t>
            </a:r>
            <a:r>
              <a:rPr lang="en-CA" sz="3200" b="0" i="0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CA" sz="2000" b="0" i="0" dirty="0">
                <a:solidFill>
                  <a:srgbClr val="404040"/>
                </a:solidFill>
                <a:effectLst/>
                <a:latin typeface="Inter"/>
              </a:rPr>
              <a:t>Design a resource hub for charities to access information, resources, and learning opportunities.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CA" sz="2800" b="1" i="0" dirty="0">
                <a:solidFill>
                  <a:srgbClr val="404040"/>
                </a:solidFill>
                <a:effectLst/>
                <a:latin typeface="Inter"/>
              </a:rPr>
              <a:t>Key Features</a:t>
            </a:r>
            <a:r>
              <a:rPr lang="en-CA" sz="2800" b="0" i="0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CA" sz="2000" i="0" dirty="0">
                <a:solidFill>
                  <a:srgbClr val="404040"/>
                </a:solidFill>
                <a:effectLst/>
                <a:latin typeface="Inter"/>
              </a:rPr>
              <a:t>Focus on fundraising, granting, operations, marketing, storytelling, and governance.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CA" sz="2800" b="1" i="0" dirty="0">
                <a:solidFill>
                  <a:srgbClr val="404040"/>
                </a:solidFill>
                <a:effectLst/>
                <a:latin typeface="Inter"/>
              </a:rPr>
              <a:t>Tools Used</a:t>
            </a:r>
            <a:r>
              <a:rPr lang="en-CA" sz="2800" b="0" i="0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CA" sz="1600" b="0" i="0" dirty="0">
                <a:solidFill>
                  <a:srgbClr val="404040"/>
                </a:solidFill>
                <a:effectLst/>
                <a:latin typeface="Inter"/>
              </a:rPr>
              <a:t>Figma (high-fidelity prototypes).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CA" sz="1600" b="0" i="0" dirty="0" err="1">
                <a:solidFill>
                  <a:srgbClr val="404040"/>
                </a:solidFill>
                <a:effectLst/>
                <a:latin typeface="Inter"/>
              </a:rPr>
              <a:t>StoriesOnBoard</a:t>
            </a:r>
            <a:r>
              <a:rPr lang="en-CA" sz="1600" b="0" i="0" dirty="0">
                <a:solidFill>
                  <a:srgbClr val="404040"/>
                </a:solidFill>
                <a:effectLst/>
                <a:latin typeface="Inter"/>
              </a:rPr>
              <a:t> (User Story Map).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CA" sz="1600" dirty="0" err="1">
                <a:solidFill>
                  <a:srgbClr val="404040"/>
                </a:solidFill>
                <a:latin typeface="Inter"/>
              </a:rPr>
              <a:t>Powerpoint</a:t>
            </a:r>
            <a:endParaRPr lang="en-CA" sz="1600" dirty="0">
              <a:solidFill>
                <a:srgbClr val="404040"/>
              </a:solidFill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CA" sz="1600" b="0" i="0" dirty="0" err="1">
                <a:solidFill>
                  <a:srgbClr val="404040"/>
                </a:solidFill>
                <a:effectLst/>
                <a:latin typeface="Inter"/>
              </a:rPr>
              <a:t>wordpress</a:t>
            </a:r>
            <a:endParaRPr lang="en-CA" sz="1600" b="0" i="0" dirty="0">
              <a:solidFill>
                <a:srgbClr val="404040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040952146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2F4ACB-04A3-B80E-9FAC-68452D370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8FCA2743-636F-9455-0123-30288AD9F9D9}"/>
              </a:ext>
            </a:extLst>
          </p:cNvPr>
          <p:cNvSpPr txBox="1">
            <a:spLocks/>
          </p:cNvSpPr>
          <p:nvPr/>
        </p:nvSpPr>
        <p:spPr>
          <a:xfrm>
            <a:off x="2565787" y="399393"/>
            <a:ext cx="7060426" cy="7675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  <a:t>User Story Map (USM)</a:t>
            </a:r>
            <a:endParaRPr kumimoji="0" lang="en-US" sz="5400" b="1" i="0" u="none" strike="noStrike" kern="1200" cap="none" spc="0" normalizeH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</a:endParaRP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7807058-0ADD-571C-5E73-C740902243E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725" y="4688763"/>
            <a:ext cx="980858" cy="18453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9DACB6-438A-5CBC-20EC-3C90337D4C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672" y="1336279"/>
            <a:ext cx="7798842" cy="4959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86180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85CF20-4137-2DE6-5C16-3EDEAA5C2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Diagonal Corner Rectangle 1">
            <a:extLst>
              <a:ext uri="{FF2B5EF4-FFF2-40B4-BE49-F238E27FC236}">
                <a16:creationId xmlns:a16="http://schemas.microsoft.com/office/drawing/2014/main" id="{81292DE9-2AD2-8E7E-5245-AAAEDBDBDCBC}"/>
              </a:ext>
            </a:extLst>
          </p:cNvPr>
          <p:cNvSpPr/>
          <p:nvPr/>
        </p:nvSpPr>
        <p:spPr>
          <a:xfrm>
            <a:off x="575961" y="274603"/>
            <a:ext cx="10195958" cy="6210300"/>
          </a:xfrm>
          <a:prstGeom prst="round2DiagRect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85864E4-6E70-4D91-99C3-77B3E1D6C689}"/>
              </a:ext>
            </a:extLst>
          </p:cNvPr>
          <p:cNvSpPr txBox="1">
            <a:spLocks/>
          </p:cNvSpPr>
          <p:nvPr/>
        </p:nvSpPr>
        <p:spPr>
          <a:xfrm>
            <a:off x="637329" y="807608"/>
            <a:ext cx="9532775" cy="9675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endParaRPr lang="en-CA" sz="3200" b="1" i="0" dirty="0">
              <a:solidFill>
                <a:srgbClr val="404040"/>
              </a:solidFill>
              <a:effectLst/>
              <a:latin typeface="Inter"/>
            </a:endParaRP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F4785CD9-7B36-ADD8-A39F-23B8FC76577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725" y="4688763"/>
            <a:ext cx="980858" cy="18453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F8F54D6-4359-B2B3-CD74-9B9FD5679B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3940" y="807608"/>
            <a:ext cx="7620000" cy="45956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44925012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Diagonal Corner Rectangle 1">
            <a:extLst>
              <a:ext uri="{FF2B5EF4-FFF2-40B4-BE49-F238E27FC236}">
                <a16:creationId xmlns:a16="http://schemas.microsoft.com/office/drawing/2014/main" id="{5B17A729-4EEE-3CDA-314F-30332FAF46C0}"/>
              </a:ext>
            </a:extLst>
          </p:cNvPr>
          <p:cNvSpPr/>
          <p:nvPr/>
        </p:nvSpPr>
        <p:spPr>
          <a:xfrm>
            <a:off x="465818" y="244929"/>
            <a:ext cx="10033453" cy="6018525"/>
          </a:xfrm>
          <a:prstGeom prst="round2DiagRect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88B38BB6-D329-10B0-99C8-F4D3D11B731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209" y="3734412"/>
            <a:ext cx="1344233" cy="252904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6D5BE54-5005-4B23-B8DA-2C12F532D559}"/>
              </a:ext>
            </a:extLst>
          </p:cNvPr>
          <p:cNvSpPr txBox="1">
            <a:spLocks/>
          </p:cNvSpPr>
          <p:nvPr/>
        </p:nvSpPr>
        <p:spPr>
          <a:xfrm>
            <a:off x="758204" y="876568"/>
            <a:ext cx="8857064" cy="348715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404040"/>
                </a:solidFill>
                <a:effectLst/>
                <a:latin typeface="DeepSeek-CJK-patch"/>
              </a:rPr>
              <a:t>WordPress Demo Walkthrough</a:t>
            </a:r>
            <a:endParaRPr lang="en-US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lvl="1" algn="l">
              <a:spcBef>
                <a:spcPts val="300"/>
              </a:spcBef>
              <a:spcAft>
                <a:spcPts val="300"/>
              </a:spcAft>
            </a:pPr>
            <a:r>
              <a:rPr lang="en-US" b="0" i="0" dirty="0">
                <a:solidFill>
                  <a:srgbClr val="404040"/>
                </a:solidFill>
                <a:effectLst/>
                <a:latin typeface="DeepSeek-CJK-patch"/>
              </a:rPr>
              <a:t>C</a:t>
            </a:r>
            <a:r>
              <a:rPr lang="en-US" dirty="0">
                <a:solidFill>
                  <a:srgbClr val="404040"/>
                </a:solidFill>
                <a:latin typeface="DeepSeek-CJK-patch"/>
              </a:rPr>
              <a:t>ONCEPTS</a:t>
            </a:r>
          </a:p>
          <a:p>
            <a:pPr lvl="1" algn="l">
              <a:spcBef>
                <a:spcPts val="300"/>
              </a:spcBef>
              <a:spcAft>
                <a:spcPts val="300"/>
              </a:spcAft>
            </a:pPr>
            <a:r>
              <a:rPr lang="en-US" b="0" i="0" dirty="0">
                <a:solidFill>
                  <a:srgbClr val="404040"/>
                </a:solidFill>
                <a:effectLst/>
                <a:latin typeface="DeepSeek-CJK-patch"/>
              </a:rPr>
              <a:t>	1.  Affordances</a:t>
            </a:r>
          </a:p>
          <a:p>
            <a:pPr lvl="1" algn="l"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rgbClr val="404040"/>
                </a:solidFill>
                <a:latin typeface="DeepSeek-CJK-patch"/>
              </a:rPr>
              <a:t>	2.  Feedback </a:t>
            </a:r>
          </a:p>
          <a:p>
            <a:pPr lvl="1" algn="l">
              <a:spcBef>
                <a:spcPts val="300"/>
              </a:spcBef>
              <a:spcAft>
                <a:spcPts val="300"/>
              </a:spcAft>
            </a:pPr>
            <a:r>
              <a:rPr lang="en-US" b="0" i="0" dirty="0">
                <a:solidFill>
                  <a:srgbClr val="404040"/>
                </a:solidFill>
                <a:effectLst/>
                <a:latin typeface="DeepSeek-CJK-patch"/>
              </a:rPr>
              <a:t>	3.  Signifiers</a:t>
            </a:r>
          </a:p>
          <a:p>
            <a:pPr lvl="1" algn="l"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rgbClr val="404040"/>
                </a:solidFill>
                <a:latin typeface="DeepSeek-CJK-patch"/>
              </a:rPr>
              <a:t>	4. Fast Feed Back Cycle</a:t>
            </a:r>
          </a:p>
          <a:p>
            <a:pPr lvl="1" algn="l"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rgbClr val="404040"/>
                </a:solidFill>
                <a:latin typeface="DeepSeek-CJK-patch"/>
              </a:rPr>
              <a:t>	5. Constraints</a:t>
            </a:r>
          </a:p>
          <a:p>
            <a:pPr lvl="1" algn="l">
              <a:spcBef>
                <a:spcPts val="300"/>
              </a:spcBef>
              <a:spcAft>
                <a:spcPts val="300"/>
              </a:spcAft>
            </a:pPr>
            <a:endParaRPr lang="en-US" b="0" i="0" dirty="0">
              <a:solidFill>
                <a:srgbClr val="404040"/>
              </a:solidFill>
              <a:effectLst/>
              <a:latin typeface="DeepSeek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715646682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 Diagonal Corner Rectangle 1">
            <a:extLst>
              <a:ext uri="{FF2B5EF4-FFF2-40B4-BE49-F238E27FC236}">
                <a16:creationId xmlns:a16="http://schemas.microsoft.com/office/drawing/2014/main" id="{69AE2E27-C8D7-552C-8DB4-9BB3FAA046D7}"/>
              </a:ext>
            </a:extLst>
          </p:cNvPr>
          <p:cNvSpPr/>
          <p:nvPr/>
        </p:nvSpPr>
        <p:spPr>
          <a:xfrm>
            <a:off x="447251" y="323850"/>
            <a:ext cx="10195958" cy="6210300"/>
          </a:xfrm>
          <a:prstGeom prst="round2DiagRect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D8DE4117-D03E-472D-988C-680F8BC01EF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725" y="4688763"/>
            <a:ext cx="980858" cy="184538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0AF35AF-0FFD-06EE-FC56-6C5060FD92B7}"/>
              </a:ext>
            </a:extLst>
          </p:cNvPr>
          <p:cNvSpPr txBox="1">
            <a:spLocks/>
          </p:cNvSpPr>
          <p:nvPr/>
        </p:nvSpPr>
        <p:spPr>
          <a:xfrm>
            <a:off x="1089614" y="457200"/>
            <a:ext cx="9330166" cy="8842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b="1" i="0" dirty="0">
                <a:solidFill>
                  <a:srgbClr val="404040"/>
                </a:solidFill>
                <a:effectLst/>
                <a:latin typeface="DeepSeek-CJK-patch"/>
              </a:rPr>
              <a:t>WORDPRESS THEME AND PLUGINS</a:t>
            </a:r>
            <a:endParaRPr lang="en-US" sz="2800" b="0" i="0" dirty="0">
              <a:solidFill>
                <a:srgbClr val="404040"/>
              </a:solidFill>
              <a:effectLst/>
              <a:latin typeface="DeepSeek-CJK-patch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F8C7E7E-4329-8373-6AAC-AA1451941940}"/>
              </a:ext>
            </a:extLst>
          </p:cNvPr>
          <p:cNvSpPr txBox="1">
            <a:spLocks/>
          </p:cNvSpPr>
          <p:nvPr/>
        </p:nvSpPr>
        <p:spPr>
          <a:xfrm>
            <a:off x="1211657" y="1301053"/>
            <a:ext cx="8389543" cy="47895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2" algn="l">
              <a:spcBef>
                <a:spcPts val="300"/>
              </a:spcBef>
            </a:pPr>
            <a:endParaRPr lang="en-US" b="0" i="0" dirty="0">
              <a:solidFill>
                <a:srgbClr val="404040"/>
              </a:solidFill>
              <a:effectLst/>
              <a:latin typeface="DeepSeek-CJK-patch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7EFFCC9-1E9C-F5E2-81AD-A884CB1A0F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324696"/>
              </p:ext>
            </p:extLst>
          </p:nvPr>
        </p:nvGraphicFramePr>
        <p:xfrm>
          <a:off x="2336800" y="1301053"/>
          <a:ext cx="7172960" cy="4351339"/>
        </p:xfrm>
        <a:graphic>
          <a:graphicData uri="http://schemas.openxmlformats.org/drawingml/2006/table">
            <a:tbl>
              <a:tblPr/>
              <a:tblGrid>
                <a:gridCol w="1701800">
                  <a:extLst>
                    <a:ext uri="{9D8B030D-6E8A-4147-A177-3AD203B41FA5}">
                      <a16:colId xmlns:a16="http://schemas.microsoft.com/office/drawing/2014/main" val="1052811465"/>
                    </a:ext>
                  </a:extLst>
                </a:gridCol>
                <a:gridCol w="5471160">
                  <a:extLst>
                    <a:ext uri="{9D8B030D-6E8A-4147-A177-3AD203B41FA5}">
                      <a16:colId xmlns:a16="http://schemas.microsoft.com/office/drawing/2014/main" val="2269397111"/>
                    </a:ext>
                  </a:extLst>
                </a:gridCol>
              </a:tblGrid>
              <a:tr h="40322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18"/>
                        </a:lnSpc>
                        <a:buNone/>
                      </a:pPr>
                      <a:r>
                        <a:rPr lang="en-US" sz="2000" b="1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Attribute</a:t>
                      </a:r>
                      <a:r>
                        <a:rPr lang="en-US" sz="2000" b="0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2000" b="0" i="0" dirty="0">
                        <a:effectLst/>
                      </a:endParaRPr>
                    </a:p>
                  </a:txBody>
                  <a:tcPr marL="66557" marR="66557" marT="33278" marB="33278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18"/>
                        </a:lnSpc>
                        <a:buNone/>
                      </a:pPr>
                      <a:r>
                        <a:rPr lang="en-US" sz="2000" b="1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Details</a:t>
                      </a:r>
                      <a:r>
                        <a:rPr lang="en-US" sz="2000" b="0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2000" b="0" i="0" dirty="0">
                        <a:effectLst/>
                      </a:endParaRPr>
                    </a:p>
                  </a:txBody>
                  <a:tcPr marL="66557" marR="66557" marT="33278" marB="33278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139573"/>
                  </a:ext>
                </a:extLst>
              </a:tr>
              <a:tr h="57886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18"/>
                        </a:lnSpc>
                        <a:buNone/>
                      </a:pPr>
                      <a:r>
                        <a:rPr lang="en-US" sz="2000" b="1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User Rating</a:t>
                      </a:r>
                      <a:r>
                        <a:rPr lang="en-US" sz="2000" b="0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2000" b="0" i="0" dirty="0">
                        <a:effectLst/>
                      </a:endParaRPr>
                    </a:p>
                  </a:txBody>
                  <a:tcPr marL="66557" marR="66557" marT="33278" marB="33278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44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50575E"/>
                          </a:solidFill>
                          <a:effectLst/>
                          <a:latin typeface="Segoe UI" panose="020B0502040204020203" pitchFamily="34" charset="0"/>
                        </a:rPr>
                        <a:t>5,700+ five-star reviews </a:t>
                      </a:r>
                      <a:endParaRPr lang="en-US" sz="2000" b="0" i="0">
                        <a:effectLst/>
                      </a:endParaRPr>
                    </a:p>
                  </a:txBody>
                  <a:tcPr marL="66557" marR="66557" marT="33278" marB="33278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285623"/>
                  </a:ext>
                </a:extLst>
              </a:tr>
              <a:tr h="57886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18"/>
                        </a:lnSpc>
                        <a:buNone/>
                      </a:pPr>
                      <a:r>
                        <a:rPr lang="en-US" sz="2000" b="1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Last Updated</a:t>
                      </a:r>
                      <a:r>
                        <a:rPr lang="en-US" sz="2000" b="0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2000" b="0" i="0" dirty="0">
                        <a:effectLst/>
                      </a:endParaRPr>
                    </a:p>
                  </a:txBody>
                  <a:tcPr marL="66557" marR="66557" marT="33278" marB="33278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18"/>
                        </a:lnSpc>
                        <a:buNone/>
                      </a:pPr>
                      <a:r>
                        <a:rPr lang="en-US" sz="2000" b="0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April 8, 2025 </a:t>
                      </a:r>
                      <a:endParaRPr lang="en-US" sz="2000" b="0" i="0" dirty="0">
                        <a:effectLst/>
                      </a:endParaRPr>
                    </a:p>
                  </a:txBody>
                  <a:tcPr marL="66557" marR="66557" marT="33278" marB="33278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266510"/>
                  </a:ext>
                </a:extLst>
              </a:tr>
              <a:tr h="93013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18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Active Installations</a:t>
                      </a: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 marL="66557" marR="66557" marT="33278" marB="33278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18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1 million+ </a:t>
                      </a:r>
                      <a:endParaRPr lang="en-US" sz="2000" b="0" i="0">
                        <a:effectLst/>
                      </a:endParaRPr>
                    </a:p>
                  </a:txBody>
                  <a:tcPr marL="66557" marR="66557" marT="33278" marB="33278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5068880"/>
                  </a:ext>
                </a:extLst>
              </a:tr>
              <a:tr h="57886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18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Key Purpose</a:t>
                      </a: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 marL="66557" marR="66557" marT="33278" marB="33278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18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Starter template and responsiveness </a:t>
                      </a:r>
                      <a:endParaRPr lang="en-US" sz="2000" b="0" i="0">
                        <a:effectLst/>
                      </a:endParaRPr>
                    </a:p>
                  </a:txBody>
                  <a:tcPr marL="66557" marR="66557" marT="33278" marB="33278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339000"/>
                  </a:ext>
                </a:extLst>
              </a:tr>
              <a:tr h="128140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18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Why Chosen</a:t>
                      </a: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 marL="66557" marR="66557" marT="33278" marB="33278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18"/>
                        </a:lnSpc>
                        <a:buNone/>
                      </a:pPr>
                      <a:r>
                        <a:rPr lang="en-US" sz="2000" b="0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Light weight and highly customizable and </a:t>
                      </a:r>
                      <a:r>
                        <a:rPr lang="en-US" sz="2000" b="0" i="0" dirty="0">
                          <a:solidFill>
                            <a:srgbClr val="1E1E1E"/>
                          </a:solidFill>
                          <a:effectLst/>
                          <a:latin typeface="system-ui"/>
                        </a:rPr>
                        <a:t>It offers special features and templates so it works perfectly with all page builders like Spectra, </a:t>
                      </a:r>
                      <a:r>
                        <a:rPr lang="en-US" sz="2000" b="0" i="0" dirty="0" err="1">
                          <a:solidFill>
                            <a:srgbClr val="1E1E1E"/>
                          </a:solidFill>
                          <a:effectLst/>
                          <a:latin typeface="system-ui"/>
                        </a:rPr>
                        <a:t>Elementor</a:t>
                      </a:r>
                      <a:r>
                        <a:rPr lang="en-US" sz="2000" b="0" i="0" dirty="0">
                          <a:solidFill>
                            <a:srgbClr val="1E1E1E"/>
                          </a:solidFill>
                          <a:effectLst/>
                          <a:latin typeface="system-ui"/>
                        </a:rPr>
                        <a:t>, Beaver Builder, etc. Fast performance, clean code, mobile-first design </a:t>
                      </a:r>
                      <a:endParaRPr lang="en-US" sz="2000" b="0" i="0" dirty="0">
                        <a:effectLst/>
                      </a:endParaRPr>
                    </a:p>
                  </a:txBody>
                  <a:tcPr marL="66557" marR="66557" marT="33278" marB="33278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57105"/>
                  </a:ext>
                </a:extLst>
              </a:tr>
            </a:tbl>
          </a:graphicData>
        </a:graphic>
      </p:graphicFrame>
      <p:sp>
        <p:nvSpPr>
          <p:cNvPr id="13" name="Rectangle 4">
            <a:extLst>
              <a:ext uri="{FF2B5EF4-FFF2-40B4-BE49-F238E27FC236}">
                <a16:creationId xmlns:a16="http://schemas.microsoft.com/office/drawing/2014/main" id="{29E48E46-3D25-19F4-62B5-634120B28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0619" y="857460"/>
            <a:ext cx="692150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NAME: -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Astra WordPress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 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618530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873508-F27F-64D5-B345-BDF7235F5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 Diagonal Corner Rectangle 1">
            <a:extLst>
              <a:ext uri="{FF2B5EF4-FFF2-40B4-BE49-F238E27FC236}">
                <a16:creationId xmlns:a16="http://schemas.microsoft.com/office/drawing/2014/main" id="{F66F6DBF-DF84-4EC5-79F4-32E0836697DD}"/>
              </a:ext>
            </a:extLst>
          </p:cNvPr>
          <p:cNvSpPr/>
          <p:nvPr/>
        </p:nvSpPr>
        <p:spPr>
          <a:xfrm>
            <a:off x="1688625" y="374650"/>
            <a:ext cx="10195958" cy="6210300"/>
          </a:xfrm>
          <a:prstGeom prst="round2DiagRect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C38949DC-340E-6962-C43E-7007D903B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725" y="4688763"/>
            <a:ext cx="980858" cy="184538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6170A96-96DE-9D92-39E3-D3E34CB55B60}"/>
              </a:ext>
            </a:extLst>
          </p:cNvPr>
          <p:cNvSpPr txBox="1">
            <a:spLocks/>
          </p:cNvSpPr>
          <p:nvPr/>
        </p:nvSpPr>
        <p:spPr>
          <a:xfrm>
            <a:off x="1089614" y="457200"/>
            <a:ext cx="9330166" cy="8842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800" b="1" i="0" dirty="0">
                <a:solidFill>
                  <a:srgbClr val="404040"/>
                </a:solidFill>
                <a:effectLst/>
                <a:latin typeface="DeepSeek-CJK-patch"/>
              </a:rPr>
              <a:t>WORDPRESS THEME AND PLUGINS</a:t>
            </a:r>
            <a:endParaRPr lang="en-US" sz="2800" b="0" i="0" dirty="0">
              <a:solidFill>
                <a:srgbClr val="404040"/>
              </a:solidFill>
              <a:effectLst/>
              <a:latin typeface="DeepSeek-CJK-patch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49C1AA5-6839-CD35-8F11-8FE317582AFD}"/>
              </a:ext>
            </a:extLst>
          </p:cNvPr>
          <p:cNvSpPr txBox="1">
            <a:spLocks/>
          </p:cNvSpPr>
          <p:nvPr/>
        </p:nvSpPr>
        <p:spPr>
          <a:xfrm>
            <a:off x="1211657" y="1301053"/>
            <a:ext cx="8389543" cy="47895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2" algn="l">
              <a:spcBef>
                <a:spcPts val="300"/>
              </a:spcBef>
            </a:pPr>
            <a:endParaRPr lang="en-US" b="0" i="0" dirty="0">
              <a:solidFill>
                <a:srgbClr val="404040"/>
              </a:solidFill>
              <a:effectLst/>
              <a:latin typeface="DeepSeek-CJK-patch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156C83A-F26D-1B81-C9CA-625C4AE517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274127"/>
              </p:ext>
            </p:extLst>
          </p:nvPr>
        </p:nvGraphicFramePr>
        <p:xfrm>
          <a:off x="2810069" y="1410527"/>
          <a:ext cx="8093656" cy="4351337"/>
        </p:xfrm>
        <a:graphic>
          <a:graphicData uri="http://schemas.openxmlformats.org/drawingml/2006/table">
            <a:tbl>
              <a:tblPr/>
              <a:tblGrid>
                <a:gridCol w="1224631">
                  <a:extLst>
                    <a:ext uri="{9D8B030D-6E8A-4147-A177-3AD203B41FA5}">
                      <a16:colId xmlns:a16="http://schemas.microsoft.com/office/drawing/2014/main" val="1255363881"/>
                    </a:ext>
                  </a:extLst>
                </a:gridCol>
                <a:gridCol w="6869025">
                  <a:extLst>
                    <a:ext uri="{9D8B030D-6E8A-4147-A177-3AD203B41FA5}">
                      <a16:colId xmlns:a16="http://schemas.microsoft.com/office/drawing/2014/main" val="2288422218"/>
                    </a:ext>
                  </a:extLst>
                </a:gridCol>
              </a:tblGrid>
              <a:tr h="38667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18"/>
                        </a:lnSpc>
                        <a:buNone/>
                      </a:pPr>
                      <a:r>
                        <a:rPr lang="en-US" sz="2000" b="1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Attribute</a:t>
                      </a:r>
                      <a:r>
                        <a:rPr lang="en-US" sz="2000" b="0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2000" b="0" i="0" dirty="0">
                        <a:effectLst/>
                      </a:endParaRPr>
                    </a:p>
                  </a:txBody>
                  <a:tcPr marL="63825" marR="63825" marT="31913" marB="31913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18"/>
                        </a:lnSpc>
                        <a:buNone/>
                      </a:pPr>
                      <a:r>
                        <a:rPr lang="en-US" sz="2000" b="1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Details</a:t>
                      </a:r>
                      <a:r>
                        <a:rPr lang="en-US" sz="2000" b="0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2000" b="0" i="0" dirty="0">
                        <a:effectLst/>
                      </a:endParaRPr>
                    </a:p>
                  </a:txBody>
                  <a:tcPr marL="63825" marR="63825" marT="31913" marB="31913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348836"/>
                  </a:ext>
                </a:extLst>
              </a:tr>
              <a:tr h="55510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18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User Rating</a:t>
                      </a: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 marL="63825" marR="63825" marT="31913" marB="31913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7"/>
                        </a:lnSpc>
                        <a:buNone/>
                      </a:pPr>
                      <a:r>
                        <a:rPr lang="en-US" sz="2000" b="0" i="0" dirty="0">
                          <a:solidFill>
                            <a:srgbClr val="656A71"/>
                          </a:solidFill>
                          <a:effectLst/>
                          <a:latin typeface="Segoe UI" panose="020B0502040204020203" pitchFamily="34" charset="0"/>
                        </a:rPr>
                        <a:t>3.7 out of 5 stars </a:t>
                      </a:r>
                      <a:endParaRPr lang="en-US" sz="2000" b="0" i="0" dirty="0">
                        <a:effectLst/>
                      </a:endParaRPr>
                    </a:p>
                  </a:txBody>
                  <a:tcPr marL="63825" marR="63825" marT="31913" marB="31913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3987471"/>
                  </a:ext>
                </a:extLst>
              </a:tr>
              <a:tr h="55510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18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Last Updated</a:t>
                      </a: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 marL="63825" marR="63825" marT="31913" marB="31913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18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February 11, 2025 </a:t>
                      </a:r>
                      <a:endParaRPr lang="en-US" sz="2000" b="0" i="0">
                        <a:effectLst/>
                      </a:endParaRPr>
                    </a:p>
                  </a:txBody>
                  <a:tcPr marL="63825" marR="63825" marT="31913" marB="31913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24599"/>
                  </a:ext>
                </a:extLst>
              </a:tr>
              <a:tr h="89195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18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Active Installations</a:t>
                      </a: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 marL="63825" marR="63825" marT="31913" marB="31913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18"/>
                        </a:lnSpc>
                        <a:buNone/>
                      </a:pPr>
                      <a:r>
                        <a:rPr lang="en-US" sz="2000" b="0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800,000+ </a:t>
                      </a:r>
                      <a:endParaRPr lang="en-US" sz="2000" b="0" i="0" dirty="0">
                        <a:effectLst/>
                      </a:endParaRPr>
                    </a:p>
                  </a:txBody>
                  <a:tcPr marL="63825" marR="63825" marT="31913" marB="31913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0783987"/>
                  </a:ext>
                </a:extLst>
              </a:tr>
              <a:tr h="55510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18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Key Purpose</a:t>
                      </a: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 marL="63825" marR="63825" marT="31913" marB="31913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18"/>
                        </a:lnSpc>
                        <a:buNone/>
                      </a:pPr>
                      <a:r>
                        <a:rPr lang="en-US" sz="2000" b="0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Full site editing, typography and design tools </a:t>
                      </a:r>
                      <a:endParaRPr lang="en-US" sz="2000" b="0" i="0" dirty="0">
                        <a:effectLst/>
                      </a:endParaRPr>
                    </a:p>
                  </a:txBody>
                  <a:tcPr marL="63825" marR="63825" marT="31913" marB="31913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013340"/>
                  </a:ext>
                </a:extLst>
              </a:tr>
              <a:tr h="140739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918"/>
                        </a:lnSpc>
                        <a:buNone/>
                      </a:pPr>
                      <a:r>
                        <a:rPr lang="en-US" sz="2000" b="1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Why Chosen</a:t>
                      </a:r>
                      <a:r>
                        <a:rPr lang="en-US" sz="2000" b="0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2000" b="0" i="0" dirty="0">
                        <a:effectLst/>
                      </a:endParaRPr>
                    </a:p>
                  </a:txBody>
                  <a:tcPr marL="63825" marR="63825" marT="31913" marB="31913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744"/>
                        </a:lnSpc>
                        <a:buNone/>
                      </a:pPr>
                      <a:r>
                        <a:rPr lang="en-US" sz="2000" b="0" i="0" dirty="0">
                          <a:solidFill>
                            <a:srgbClr val="50575E"/>
                          </a:solidFill>
                          <a:effectLst/>
                          <a:latin typeface="Segoe UI" panose="020B0502040204020203" pitchFamily="34" charset="0"/>
                        </a:rPr>
                        <a:t>Twenty Twenty-Five emphasizes simplicity and adaptability. It offers flexible design options, supported by a variety of patterns for different page types, such as services and landing pages, making it ideal for building personal blogs, professional portfolios, online magazines, or business websites. </a:t>
                      </a:r>
                      <a:endParaRPr lang="en-US" sz="2000" b="0" i="0" dirty="0">
                        <a:effectLst/>
                      </a:endParaRPr>
                    </a:p>
                  </a:txBody>
                  <a:tcPr marL="63825" marR="63825" marT="31913" marB="31913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021008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0399824E-D754-8A56-AB61-EE5676A02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439" y="1041709"/>
            <a:ext cx="497840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NAME:  - Twenty-Twenty five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 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92151475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D62E7F-36DC-0A01-F56C-6D9B4CCF3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 Diagonal Corner Rectangle 1">
            <a:extLst>
              <a:ext uri="{FF2B5EF4-FFF2-40B4-BE49-F238E27FC236}">
                <a16:creationId xmlns:a16="http://schemas.microsoft.com/office/drawing/2014/main" id="{04981A9F-ABF7-274A-1741-2D1292F16221}"/>
              </a:ext>
            </a:extLst>
          </p:cNvPr>
          <p:cNvSpPr/>
          <p:nvPr/>
        </p:nvSpPr>
        <p:spPr>
          <a:xfrm>
            <a:off x="1359919" y="374650"/>
            <a:ext cx="10195958" cy="6210300"/>
          </a:xfrm>
          <a:prstGeom prst="round2DiagRect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1BC484-27CC-FAAA-57E1-80F1AE49643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725" y="4688763"/>
            <a:ext cx="980858" cy="184538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FFA3531-436C-2E20-7300-D85E2E21EBEA}"/>
              </a:ext>
            </a:extLst>
          </p:cNvPr>
          <p:cNvSpPr txBox="1">
            <a:spLocks/>
          </p:cNvSpPr>
          <p:nvPr/>
        </p:nvSpPr>
        <p:spPr>
          <a:xfrm>
            <a:off x="1211657" y="1301053"/>
            <a:ext cx="8389543" cy="47895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2" algn="l">
              <a:spcBef>
                <a:spcPts val="300"/>
              </a:spcBef>
            </a:pPr>
            <a:endParaRPr lang="en-US" b="0" i="0" dirty="0">
              <a:solidFill>
                <a:srgbClr val="404040"/>
              </a:solidFill>
              <a:effectLst/>
              <a:latin typeface="DeepSeek-CJK-patch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C23D15-FD8D-0513-F2F1-488290427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166432"/>
              </p:ext>
            </p:extLst>
          </p:nvPr>
        </p:nvGraphicFramePr>
        <p:xfrm>
          <a:off x="1727636" y="767443"/>
          <a:ext cx="9460524" cy="5628064"/>
        </p:xfrm>
        <a:graphic>
          <a:graphicData uri="http://schemas.openxmlformats.org/drawingml/2006/table">
            <a:tbl>
              <a:tblPr/>
              <a:tblGrid>
                <a:gridCol w="478117">
                  <a:extLst>
                    <a:ext uri="{9D8B030D-6E8A-4147-A177-3AD203B41FA5}">
                      <a16:colId xmlns:a16="http://schemas.microsoft.com/office/drawing/2014/main" val="2281763662"/>
                    </a:ext>
                  </a:extLst>
                </a:gridCol>
                <a:gridCol w="1177136">
                  <a:extLst>
                    <a:ext uri="{9D8B030D-6E8A-4147-A177-3AD203B41FA5}">
                      <a16:colId xmlns:a16="http://schemas.microsoft.com/office/drawing/2014/main" val="4250984333"/>
                    </a:ext>
                  </a:extLst>
                </a:gridCol>
                <a:gridCol w="1213223">
                  <a:extLst>
                    <a:ext uri="{9D8B030D-6E8A-4147-A177-3AD203B41FA5}">
                      <a16:colId xmlns:a16="http://schemas.microsoft.com/office/drawing/2014/main" val="453452297"/>
                    </a:ext>
                  </a:extLst>
                </a:gridCol>
                <a:gridCol w="1147483">
                  <a:extLst>
                    <a:ext uri="{9D8B030D-6E8A-4147-A177-3AD203B41FA5}">
                      <a16:colId xmlns:a16="http://schemas.microsoft.com/office/drawing/2014/main" val="712324591"/>
                    </a:ext>
                  </a:extLst>
                </a:gridCol>
                <a:gridCol w="860612">
                  <a:extLst>
                    <a:ext uri="{9D8B030D-6E8A-4147-A177-3AD203B41FA5}">
                      <a16:colId xmlns:a16="http://schemas.microsoft.com/office/drawing/2014/main" val="1866409853"/>
                    </a:ext>
                  </a:extLst>
                </a:gridCol>
                <a:gridCol w="2297146">
                  <a:extLst>
                    <a:ext uri="{9D8B030D-6E8A-4147-A177-3AD203B41FA5}">
                      <a16:colId xmlns:a16="http://schemas.microsoft.com/office/drawing/2014/main" val="1482875938"/>
                    </a:ext>
                  </a:extLst>
                </a:gridCol>
                <a:gridCol w="2286807">
                  <a:extLst>
                    <a:ext uri="{9D8B030D-6E8A-4147-A177-3AD203B41FA5}">
                      <a16:colId xmlns:a16="http://schemas.microsoft.com/office/drawing/2014/main" val="2689141981"/>
                    </a:ext>
                  </a:extLst>
                </a:gridCol>
              </a:tblGrid>
              <a:tr h="33795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1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#</a:t>
                      </a:r>
                      <a:r>
                        <a:rPr lang="en-US" sz="2000" b="0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2000" b="0" i="0" dirty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1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Plugin Name</a:t>
                      </a:r>
                      <a:r>
                        <a:rPr lang="en-US" sz="2000" b="0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2000" b="0" i="0" dirty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Rating</a:t>
                      </a: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Last Updated</a:t>
                      </a: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Active Installs</a:t>
                      </a: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Purpose &amp; Key Features</a:t>
                      </a: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Saskatchewan-Specific Use</a:t>
                      </a: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924176"/>
                  </a:ext>
                </a:extLst>
              </a:tr>
              <a:tr h="67980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1 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1" i="0" dirty="0" err="1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Akismet</a:t>
                      </a:r>
                      <a:r>
                        <a:rPr lang="en-US" sz="2000" b="1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 Anti-spam</a:t>
                      </a:r>
                      <a:r>
                        <a:rPr lang="en-US" sz="2000" b="0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2000" b="0" i="0" dirty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4.5 star (3,200+ ratings) </a:t>
                      </a:r>
                      <a:endParaRPr lang="en-US" sz="2000" b="0" i="0" dirty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May 2024 </a:t>
                      </a:r>
                      <a:endParaRPr lang="en-US" sz="2000" b="0" i="0" dirty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5M+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Blocks spam comments/form submissions using AI. Integrates with WPForms.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Protects charity contact forms from bot submissions.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157245"/>
                  </a:ext>
                </a:extLst>
              </a:tr>
              <a:tr h="50887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2 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AMP</a:t>
                      </a: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4.3 star (1,800+ ratings)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Apr 2024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1M+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Creates mobile-optimized pages with fast loading. </a:t>
                      </a:r>
                      <a:endParaRPr lang="en-US" sz="2000" b="0" i="0" dirty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Improves rural access with low-bandwidth compatibility.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711200"/>
                  </a:ext>
                </a:extLst>
              </a:tr>
              <a:tr h="50887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3 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Elementor</a:t>
                      </a: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4.8 star(12,000+ ratings)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Jun 2024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10M+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Drag-and-drop page builder with 100+ widgets.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Used to design fundraising toolkit landing pages.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512845"/>
                  </a:ext>
                </a:extLst>
              </a:tr>
              <a:tr h="50887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4 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Duplicate Page</a:t>
                      </a: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4.6 star (4,500+ ratings)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Mar 2024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800K+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Clones pages/posts with one click.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Rapidly replicates grant application templates.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430719"/>
                  </a:ext>
                </a:extLst>
              </a:tr>
              <a:tr h="50887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5 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Customizer Export/Import</a:t>
                      </a: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4.7star (1,200+ ratings)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Feb 2024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300K+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Backs up and migrates theme customizations.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Preserves branding when transferring between dev stages.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906594"/>
                  </a:ext>
                </a:extLst>
              </a:tr>
              <a:tr h="50887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6 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Smart Slider 3</a:t>
                      </a: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4.8star (2,100+ ratings)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May 2024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900K+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Creates responsive sliders/carousels. Supports videos.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Highlights success stories on homepage.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507707"/>
                  </a:ext>
                </a:extLst>
              </a:tr>
              <a:tr h="50887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7 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1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Spectra</a:t>
                      </a:r>
                      <a:r>
                        <a:rPr lang="en-US" sz="2000" b="0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 </a:t>
                      </a:r>
                      <a:endParaRPr lang="en-US" sz="2000" b="0" i="0" dirty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4.9 star (5,700+ ratings)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Jun 2024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2M+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Gutenberg blocks library with prebuilt templates. </a:t>
                      </a:r>
                      <a:endParaRPr lang="en-US" sz="2000" b="0" i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2000" b="0" i="0" dirty="0">
                          <a:solidFill>
                            <a:srgbClr val="404040"/>
                          </a:solidFill>
                          <a:effectLst/>
                          <a:latin typeface="system-ui"/>
                        </a:rPr>
                        <a:t>Accelerates resource page layouts (e.g., toolkits grid). </a:t>
                      </a:r>
                      <a:endParaRPr lang="en-US" sz="2000" b="0" i="0" dirty="0">
                        <a:effectLst/>
                      </a:endParaRPr>
                    </a:p>
                  </a:txBody>
                  <a:tcPr marL="26853" marR="26853" marT="13426" marB="13426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134297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63DBBCA-E24C-DCFE-3CAB-6A525C22F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8226" y="374650"/>
            <a:ext cx="2197092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Plugin List: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WordVisiCarriageReturn_MSFontService"/>
                <a:cs typeface="Segoe UI" panose="020B0502040204020203" pitchFamily="34" charset="0"/>
              </a:rPr>
              <a:t> 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82571672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Diagonal Corner Rectangle 1">
            <a:extLst>
              <a:ext uri="{FF2B5EF4-FFF2-40B4-BE49-F238E27FC236}">
                <a16:creationId xmlns:a16="http://schemas.microsoft.com/office/drawing/2014/main" id="{452DB754-C115-B722-7742-A5694CBD667F}"/>
              </a:ext>
            </a:extLst>
          </p:cNvPr>
          <p:cNvSpPr/>
          <p:nvPr/>
        </p:nvSpPr>
        <p:spPr>
          <a:xfrm>
            <a:off x="447251" y="323850"/>
            <a:ext cx="10195958" cy="6210300"/>
          </a:xfrm>
          <a:prstGeom prst="round2DiagRect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DBEC3C0-E73A-4837-AEEC-96C84D8E4298}"/>
              </a:ext>
            </a:extLst>
          </p:cNvPr>
          <p:cNvSpPr txBox="1">
            <a:spLocks/>
          </p:cNvSpPr>
          <p:nvPr/>
        </p:nvSpPr>
        <p:spPr>
          <a:xfrm>
            <a:off x="3539270" y="648192"/>
            <a:ext cx="3850718" cy="66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CA" b="1" i="0" dirty="0">
                <a:solidFill>
                  <a:srgbClr val="404040"/>
                </a:solidFill>
                <a:effectLst/>
                <a:latin typeface="Inter"/>
              </a:rPr>
              <a:t>Design Decisions</a:t>
            </a: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D8DE4117-D03E-472D-988C-680F8BC01EF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725" y="4688763"/>
            <a:ext cx="980858" cy="184538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1F03074-13B8-532B-31C6-864EA0A63B02}"/>
              </a:ext>
            </a:extLst>
          </p:cNvPr>
          <p:cNvSpPr txBox="1">
            <a:spLocks/>
          </p:cNvSpPr>
          <p:nvPr/>
        </p:nvSpPr>
        <p:spPr>
          <a:xfrm>
            <a:off x="1521382" y="1633931"/>
            <a:ext cx="7671603" cy="19910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CA" b="1" i="0" dirty="0">
                <a:solidFill>
                  <a:srgbClr val="404040"/>
                </a:solidFill>
                <a:effectLst/>
                <a:latin typeface="Inter"/>
              </a:rPr>
              <a:t>People-Centered Design Principles</a:t>
            </a:r>
            <a:r>
              <a:rPr lang="en-CA" b="0" i="0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CA" b="1" i="0" dirty="0">
                <a:solidFill>
                  <a:srgbClr val="404040"/>
                </a:solidFill>
                <a:effectLst/>
                <a:latin typeface="Inter"/>
              </a:rPr>
              <a:t>Affordances</a:t>
            </a:r>
            <a:r>
              <a:rPr lang="en-CA" b="0" i="0" dirty="0">
                <a:solidFill>
                  <a:srgbClr val="404040"/>
                </a:solidFill>
                <a:effectLst/>
                <a:latin typeface="Inter"/>
              </a:rPr>
              <a:t>: Buttons look clickable, links are underlined.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CA" b="1" i="0" dirty="0">
                <a:solidFill>
                  <a:srgbClr val="404040"/>
                </a:solidFill>
                <a:effectLst/>
                <a:latin typeface="Inter"/>
              </a:rPr>
              <a:t>Gestalt Principles</a:t>
            </a:r>
            <a:r>
              <a:rPr lang="en-CA" b="0" i="0" dirty="0">
                <a:solidFill>
                  <a:srgbClr val="404040"/>
                </a:solidFill>
                <a:effectLst/>
                <a:latin typeface="Inter"/>
              </a:rPr>
              <a:t>: Grouped related items (e.g., Resources subcategories).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CA" b="1" i="0" dirty="0">
                <a:solidFill>
                  <a:srgbClr val="404040"/>
                </a:solidFill>
                <a:effectLst/>
                <a:latin typeface="Inter"/>
              </a:rPr>
              <a:t>Constraints</a:t>
            </a:r>
            <a:r>
              <a:rPr lang="en-CA" b="0" i="0" dirty="0">
                <a:solidFill>
                  <a:srgbClr val="404040"/>
                </a:solidFill>
                <a:effectLst/>
                <a:latin typeface="Inter"/>
              </a:rPr>
              <a:t>: Disabled non-clickable elements to guide users.</a:t>
            </a:r>
          </a:p>
        </p:txBody>
      </p:sp>
    </p:spTree>
    <p:extLst>
      <p:ext uri="{BB962C8B-B14F-4D97-AF65-F5344CB8AC3E}">
        <p14:creationId xmlns:p14="http://schemas.microsoft.com/office/powerpoint/2010/main" val="3526292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 Diagonal Corner Rectangle 1">
            <a:extLst>
              <a:ext uri="{FF2B5EF4-FFF2-40B4-BE49-F238E27FC236}">
                <a16:creationId xmlns:a16="http://schemas.microsoft.com/office/drawing/2014/main" id="{2BB4B406-C2C3-1E24-D5F6-ADA70ED030D3}"/>
              </a:ext>
            </a:extLst>
          </p:cNvPr>
          <p:cNvSpPr/>
          <p:nvPr/>
        </p:nvSpPr>
        <p:spPr>
          <a:xfrm>
            <a:off x="447251" y="323850"/>
            <a:ext cx="10195958" cy="6210300"/>
          </a:xfrm>
          <a:prstGeom prst="round2DiagRect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DBEC3C0-E73A-4837-AEEC-96C84D8E4298}"/>
              </a:ext>
            </a:extLst>
          </p:cNvPr>
          <p:cNvSpPr txBox="1">
            <a:spLocks/>
          </p:cNvSpPr>
          <p:nvPr/>
        </p:nvSpPr>
        <p:spPr>
          <a:xfrm>
            <a:off x="3686844" y="550221"/>
            <a:ext cx="3295547" cy="7593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eepSeek-CJK-patch"/>
              </a:rPr>
              <a:t>Key Excerpts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eepSeek-CJK-patch"/>
              </a:rPr>
              <a:t>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D8DE4117-D03E-472D-988C-680F8BC01EF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725" y="4688763"/>
            <a:ext cx="980858" cy="184538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1F03074-13B8-532B-31C6-864EA0A63B02}"/>
              </a:ext>
            </a:extLst>
          </p:cNvPr>
          <p:cNvSpPr txBox="1">
            <a:spLocks/>
          </p:cNvSpPr>
          <p:nvPr/>
        </p:nvSpPr>
        <p:spPr>
          <a:xfrm>
            <a:off x="1194810" y="1035565"/>
            <a:ext cx="5626325" cy="464677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4C4C4D"/>
              </a:solidFill>
              <a:effectLst/>
              <a:uLnTx/>
              <a:uFillTx/>
              <a:latin typeface="Calibri" panose="020F050202020403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571C88D-2D17-87C1-5DF5-DB12DA1A5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2694" y="1333268"/>
            <a:ext cx="880795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"The Business Directory's location filter will be invaluable for rural charities."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"Request: Add a 'Pro Bono' tag for free services."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"Suggestion: Include a calendar sync for workshop reminders."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218149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Diagonal Corner Rectangle 1">
            <a:extLst>
              <a:ext uri="{FF2B5EF4-FFF2-40B4-BE49-F238E27FC236}">
                <a16:creationId xmlns:a16="http://schemas.microsoft.com/office/drawing/2014/main" id="{BD6C9ED6-B189-0B0F-BB3A-22C20E66BA4F}"/>
              </a:ext>
            </a:extLst>
          </p:cNvPr>
          <p:cNvSpPr/>
          <p:nvPr/>
        </p:nvSpPr>
        <p:spPr>
          <a:xfrm>
            <a:off x="447251" y="323850"/>
            <a:ext cx="10195958" cy="6210300"/>
          </a:xfrm>
          <a:prstGeom prst="round2DiagRect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DBEC3C0-E73A-4837-AEEC-96C84D8E4298}"/>
              </a:ext>
            </a:extLst>
          </p:cNvPr>
          <p:cNvSpPr txBox="1">
            <a:spLocks/>
          </p:cNvSpPr>
          <p:nvPr/>
        </p:nvSpPr>
        <p:spPr>
          <a:xfrm>
            <a:off x="3732072" y="498568"/>
            <a:ext cx="3769075" cy="5634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u="none" strike="noStrike" kern="1200" cap="none" spc="0" normalizeH="0" baseline="0" noProof="0" dirty="0">
                <a:ln>
                  <a:noFill/>
                </a:ln>
                <a:solidFill>
                  <a:srgbClr val="4C4C4D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  <a:t>CONCLUSION</a:t>
            </a:r>
            <a:endParaRPr kumimoji="0" lang="en-US" sz="4400" b="1" u="none" strike="noStrike" kern="1200" cap="none" spc="0" normalizeH="0" baseline="0" noProof="0" dirty="0">
              <a:ln>
                <a:noFill/>
              </a:ln>
              <a:solidFill>
                <a:srgbClr val="4C4C4D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</a:endParaRP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D8DE4117-D03E-472D-988C-680F8BC01EF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725" y="4688763"/>
            <a:ext cx="980858" cy="184538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1F03074-13B8-532B-31C6-864EA0A63B02}"/>
              </a:ext>
            </a:extLst>
          </p:cNvPr>
          <p:cNvSpPr txBox="1">
            <a:spLocks/>
          </p:cNvSpPr>
          <p:nvPr/>
        </p:nvSpPr>
        <p:spPr>
          <a:xfrm>
            <a:off x="918908" y="1236711"/>
            <a:ext cx="8976206" cy="40864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>
              <a:buNone/>
            </a:pPr>
            <a:r>
              <a:rPr lang="en-CA" sz="2400" b="1" i="0" dirty="0">
                <a:solidFill>
                  <a:srgbClr val="404040"/>
                </a:solidFill>
                <a:effectLst/>
                <a:latin typeface="DeepSeek-CJK-patch"/>
              </a:rPr>
              <a:t>Successes</a:t>
            </a:r>
            <a:r>
              <a:rPr lang="en-CA" sz="2400" b="0" i="0" dirty="0">
                <a:solidFill>
                  <a:srgbClr val="404040"/>
                </a:solidFill>
                <a:effectLst/>
                <a:latin typeface="DeepSeek-CJK-patch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sz="2400" b="0" i="0" dirty="0">
                <a:solidFill>
                  <a:srgbClr val="404040"/>
                </a:solidFill>
                <a:effectLst/>
                <a:latin typeface="DeepSeek-CJK-patch"/>
              </a:rPr>
              <a:t>Rapid prototyping with Figma saved development hours</a:t>
            </a:r>
          </a:p>
          <a:p>
            <a:pPr algn="l">
              <a:buNone/>
            </a:pPr>
            <a:r>
              <a:rPr lang="en-CA" sz="2400" b="1" i="0" dirty="0">
                <a:solidFill>
                  <a:srgbClr val="404040"/>
                </a:solidFill>
                <a:effectLst/>
                <a:latin typeface="DeepSeek-CJK-patch"/>
              </a:rPr>
              <a:t>Challenges</a:t>
            </a:r>
            <a:r>
              <a:rPr lang="en-CA" sz="2400" b="0" i="0" dirty="0">
                <a:solidFill>
                  <a:srgbClr val="404040"/>
                </a:solidFill>
                <a:effectLst/>
                <a:latin typeface="DeepSeek-CJK-patch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sz="2400" b="0" i="0" dirty="0">
                <a:solidFill>
                  <a:srgbClr val="404040"/>
                </a:solidFill>
                <a:effectLst/>
                <a:latin typeface="DeepSeek-CJK-patch"/>
              </a:rPr>
              <a:t>Content migration delays (resolved with CSV imports), upgrade on </a:t>
            </a:r>
            <a:r>
              <a:rPr lang="en-CA" sz="2400" b="0" i="0" dirty="0" err="1">
                <a:solidFill>
                  <a:srgbClr val="404040"/>
                </a:solidFill>
                <a:effectLst/>
                <a:latin typeface="DeepSeek-CJK-patch"/>
              </a:rPr>
              <a:t>wordpress</a:t>
            </a:r>
            <a:endParaRPr lang="en-CA" sz="2400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buNone/>
            </a:pPr>
            <a:r>
              <a:rPr lang="en-CA" sz="2400" b="1" i="0" dirty="0">
                <a:solidFill>
                  <a:srgbClr val="404040"/>
                </a:solidFill>
                <a:effectLst/>
                <a:latin typeface="DeepSeek-CJK-patch"/>
              </a:rPr>
              <a:t>Future Recommendations</a:t>
            </a:r>
            <a:r>
              <a:rPr lang="en-CA" sz="2400" b="0" i="0" dirty="0">
                <a:solidFill>
                  <a:srgbClr val="404040"/>
                </a:solidFill>
                <a:effectLst/>
                <a:latin typeface="DeepSeek-CJK-patch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rgbClr val="404040"/>
                </a:solidFill>
                <a:latin typeface="DeepSeek-CJK-patch"/>
              </a:rPr>
              <a:t>Home icon for navigation</a:t>
            </a:r>
            <a:endParaRPr lang="en-CA" sz="2400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CA" sz="2400" b="0" i="0" dirty="0">
                <a:solidFill>
                  <a:srgbClr val="404040"/>
                </a:solidFill>
                <a:effectLst/>
                <a:latin typeface="DeepSeek-CJK-patch"/>
              </a:rPr>
              <a:t>Partner with </a:t>
            </a:r>
            <a:r>
              <a:rPr lang="en-CA" sz="2400" b="0" i="0" dirty="0" err="1">
                <a:solidFill>
                  <a:srgbClr val="404040"/>
                </a:solidFill>
                <a:effectLst/>
                <a:latin typeface="DeepSeek-CJK-patch"/>
              </a:rPr>
              <a:t>SaskNonprofit</a:t>
            </a:r>
            <a:r>
              <a:rPr lang="en-CA" sz="2400" b="0" i="0" dirty="0">
                <a:solidFill>
                  <a:srgbClr val="404040"/>
                </a:solidFill>
                <a:effectLst/>
                <a:latin typeface="DeepSeek-CJK-patch"/>
              </a:rPr>
              <a:t> for live grant alerts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rgbClr val="404040"/>
                </a:solidFill>
                <a:latin typeface="DeepSeek-CJK-patch"/>
              </a:rPr>
              <a:t>Pro Bono Business Services</a:t>
            </a:r>
            <a:endParaRPr lang="en-CA" sz="2400" b="0" i="0" dirty="0">
              <a:solidFill>
                <a:srgbClr val="404040"/>
              </a:solidFill>
              <a:effectLst/>
              <a:latin typeface="DeepSeek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835431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D84C09-FDBF-E755-9C2A-AFEA851FA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Diagonal Corner Rectangle 1">
            <a:extLst>
              <a:ext uri="{FF2B5EF4-FFF2-40B4-BE49-F238E27FC236}">
                <a16:creationId xmlns:a16="http://schemas.microsoft.com/office/drawing/2014/main" id="{41D9478E-08FD-2779-A322-163DC147BF1F}"/>
              </a:ext>
            </a:extLst>
          </p:cNvPr>
          <p:cNvSpPr/>
          <p:nvPr/>
        </p:nvSpPr>
        <p:spPr>
          <a:xfrm>
            <a:off x="447251" y="323850"/>
            <a:ext cx="10195958" cy="6210300"/>
          </a:xfrm>
          <a:prstGeom prst="round2DiagRect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123DAF4-11B0-1C25-FCB3-32EF688A96EA}"/>
              </a:ext>
            </a:extLst>
          </p:cNvPr>
          <p:cNvSpPr txBox="1">
            <a:spLocks/>
          </p:cNvSpPr>
          <p:nvPr/>
        </p:nvSpPr>
        <p:spPr>
          <a:xfrm>
            <a:off x="4182780" y="615094"/>
            <a:ext cx="2903819" cy="1001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6600" b="1" dirty="0">
                <a:solidFill>
                  <a:prstClr val="white"/>
                </a:solidFill>
                <a:latin typeface="Georgia"/>
              </a:rPr>
              <a:t>Q &amp; A</a:t>
            </a:r>
            <a:endParaRPr lang="en-US" sz="6600" b="1" dirty="0">
              <a:solidFill>
                <a:prstClr val="white"/>
              </a:solidFill>
              <a:latin typeface="Georgia"/>
            </a:endParaRPr>
          </a:p>
        </p:txBody>
      </p: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20016872-7848-F031-3930-FAC652BF2BC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2126" y="4399438"/>
            <a:ext cx="962407" cy="18106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4E523-1DEC-0E04-CA8A-A042E86FFD96}"/>
              </a:ext>
            </a:extLst>
          </p:cNvPr>
          <p:cNvSpPr txBox="1">
            <a:spLocks/>
          </p:cNvSpPr>
          <p:nvPr/>
        </p:nvSpPr>
        <p:spPr>
          <a:xfrm>
            <a:off x="586384" y="2204077"/>
            <a:ext cx="10096609" cy="24498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000" b="1" i="0" dirty="0">
                <a:solidFill>
                  <a:schemeClr val="bg1"/>
                </a:solidFill>
                <a:effectLst/>
                <a:latin typeface="Inter"/>
              </a:rPr>
              <a:t>Questions &amp; Answers!</a:t>
            </a:r>
          </a:p>
          <a:p>
            <a:pPr algn="ctr">
              <a:spcBef>
                <a:spcPts val="300"/>
              </a:spcBef>
            </a:pPr>
            <a:r>
              <a:rPr lang="en-US" sz="4000" b="1" i="0" dirty="0">
                <a:solidFill>
                  <a:schemeClr val="bg1"/>
                </a:solidFill>
                <a:effectLst/>
                <a:latin typeface="Inter"/>
              </a:rPr>
              <a:t>We welcome any questions or feedback!!!</a:t>
            </a:r>
            <a:r>
              <a:rPr lang="en-US" sz="2800" i="0" dirty="0">
                <a:solidFill>
                  <a:schemeClr val="bg1"/>
                </a:solidFill>
                <a:effectLst/>
                <a:latin typeface="Inter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91481637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93b2cda-35d7-4beb-a11e-05be89d4b10c">
      <Terms xmlns="http://schemas.microsoft.com/office/infopath/2007/PartnerControls"/>
    </lcf76f155ced4ddcb4097134ff3c332f>
    <TaxCatchAll xmlns="f9636862-c0f0-45d1-b3fd-66452047d697" xsi:nil="true"/>
    <SharedWithUsers xmlns="f9636862-c0f0-45d1-b3fd-66452047d697">
      <UserInfo>
        <DisplayName>Adam Hicks</DisplayName>
        <AccountId>16</AccountId>
        <AccountType/>
      </UserInfo>
      <UserInfo>
        <DisplayName>Donna Ziegler</DisplayName>
        <AccountId>17</AccountId>
        <AccountType/>
      </UserInfo>
      <UserInfo>
        <DisplayName>Lorna Sandberg</DisplayName>
        <AccountId>23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4EC9C126F43E47BA3AA12226105DDE" ma:contentTypeVersion="17" ma:contentTypeDescription="Create a new document." ma:contentTypeScope="" ma:versionID="4c10cdce2732d85cea710942a9e1af66">
  <xsd:schema xmlns:xsd="http://www.w3.org/2001/XMLSchema" xmlns:xs="http://www.w3.org/2001/XMLSchema" xmlns:p="http://schemas.microsoft.com/office/2006/metadata/properties" xmlns:ns2="f9636862-c0f0-45d1-b3fd-66452047d697" xmlns:ns3="293b2cda-35d7-4beb-a11e-05be89d4b10c" targetNamespace="http://schemas.microsoft.com/office/2006/metadata/properties" ma:root="true" ma:fieldsID="2ac4d3baccbc26646697bed609f1a6f8" ns2:_="" ns3:_="">
    <xsd:import namespace="f9636862-c0f0-45d1-b3fd-66452047d697"/>
    <xsd:import namespace="293b2cda-35d7-4beb-a11e-05be89d4b10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636862-c0f0-45d1-b3fd-66452047d69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8755ef91-86d7-419e-9909-ed3d9a43f498}" ma:internalName="TaxCatchAll" ma:showField="CatchAllData" ma:web="f9636862-c0f0-45d1-b3fd-66452047d69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3b2cda-35d7-4beb-a11e-05be89d4b1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15e2533-3489-4858-8705-95354f9412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6835D4A-43DD-44FD-9F8B-FC9489778F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420E9A-DDA6-47BD-9BA0-B4F9E5BC8B88}">
  <ds:schemaRefs>
    <ds:schemaRef ds:uri="http://purl.org/dc/dcmitype/"/>
    <ds:schemaRef ds:uri="http://schemas.microsoft.com/office/2006/documentManagement/types"/>
    <ds:schemaRef ds:uri="293b2cda-35d7-4beb-a11e-05be89d4b10c"/>
    <ds:schemaRef ds:uri="http://www.w3.org/XML/1998/namespace"/>
    <ds:schemaRef ds:uri="http://schemas.microsoft.com/office/2006/metadata/properties"/>
    <ds:schemaRef ds:uri="f9636862-c0f0-45d1-b3fd-66452047d697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C9FF1E30-9BFA-4E88-8A85-47004CAFB0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636862-c0f0-45d1-b3fd-66452047d697"/>
    <ds:schemaRef ds:uri="293b2cda-35d7-4beb-a11e-05be89d4b1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12376</TotalTime>
  <Words>710</Words>
  <Application>Microsoft Office PowerPoint</Application>
  <PresentationFormat>Widescreen</PresentationFormat>
  <Paragraphs>151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8" baseType="lpstr">
      <vt:lpstr>-apple-system</vt:lpstr>
      <vt:lpstr>Aptos</vt:lpstr>
      <vt:lpstr>Arial</vt:lpstr>
      <vt:lpstr>Arial Black</vt:lpstr>
      <vt:lpstr>Calibri</vt:lpstr>
      <vt:lpstr>Calibri Light</vt:lpstr>
      <vt:lpstr>DeepSeek-CJK-patch</vt:lpstr>
      <vt:lpstr>Georgia</vt:lpstr>
      <vt:lpstr>Inter</vt:lpstr>
      <vt:lpstr>Segoe UI</vt:lpstr>
      <vt:lpstr>system-ui</vt:lpstr>
      <vt:lpstr>Times New Roman</vt:lpstr>
      <vt:lpstr>WordVisiCarriageReturn_MSFontService</vt:lpstr>
      <vt:lpstr>Custom Design</vt:lpstr>
      <vt:lpstr>1_Custom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Communities Working Together</dc:title>
  <dc:creator>Victor Roman</dc:creator>
  <cp:lastModifiedBy>Adai Yisah</cp:lastModifiedBy>
  <cp:revision>3245</cp:revision>
  <cp:lastPrinted>2021-05-03T17:44:23Z</cp:lastPrinted>
  <dcterms:created xsi:type="dcterms:W3CDTF">2020-10-02T02:21:12Z</dcterms:created>
  <dcterms:modified xsi:type="dcterms:W3CDTF">2025-04-11T20:10:32Z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0x010100B94EC9C126F43E47BA3AA12226105DDE</vt:lpwstr>
  </property>
  <property fmtid="{D5CDD505-2E9C-101B-9397-08002B2CF9AE}" pid="3" name="MediaServiceImageTags">
    <vt:lpwstr/>
  </property>
</Properties>
</file>